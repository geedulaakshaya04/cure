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58" r:id="rId4"/>
    <p:sldId id="259" r:id="rId5"/>
    <p:sldId id="272" r:id="rId6"/>
    <p:sldId id="262" r:id="rId7"/>
    <p:sldId id="260" r:id="rId8"/>
    <p:sldId id="270" r:id="rId9"/>
    <p:sldId id="268" r:id="rId10"/>
    <p:sldId id="271" r:id="rId11"/>
    <p:sldId id="269" r:id="rId12"/>
    <p:sldId id="273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>
      <p:cViewPr>
        <p:scale>
          <a:sx n="10" d="100"/>
          <a:sy n="10" d="100"/>
        </p:scale>
        <p:origin x="3307" y="1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edula Akshaya" userId="206d5386ba9af796" providerId="LiveId" clId="{57F884FF-BA75-42F0-85CB-FD060DD436EC}"/>
    <pc:docChg chg="undo custSel addSld modSld">
      <pc:chgData name="Geedula Akshaya" userId="206d5386ba9af796" providerId="LiveId" clId="{57F884FF-BA75-42F0-85CB-FD060DD436EC}" dt="2026-10-18T12:33:32.558" v="273" actId="1076"/>
      <pc:docMkLst>
        <pc:docMk/>
      </pc:docMkLst>
      <pc:sldChg chg="modSp mod">
        <pc:chgData name="Geedula Akshaya" userId="206d5386ba9af796" providerId="LiveId" clId="{57F884FF-BA75-42F0-85CB-FD060DD436EC}" dt="2026-10-18T12:27:30.763" v="255" actId="255"/>
        <pc:sldMkLst>
          <pc:docMk/>
          <pc:sldMk cId="127098434" sldId="256"/>
        </pc:sldMkLst>
        <pc:spChg chg="mod">
          <ac:chgData name="Geedula Akshaya" userId="206d5386ba9af796" providerId="LiveId" clId="{57F884FF-BA75-42F0-85CB-FD060DD436EC}" dt="2026-10-18T12:24:43.294" v="240" actId="255"/>
          <ac:spMkLst>
            <pc:docMk/>
            <pc:sldMk cId="127098434" sldId="256"/>
            <ac:spMk id="6" creationId="{724EC786-BBFF-4914-792B-69599DEA8188}"/>
          </ac:spMkLst>
        </pc:spChg>
        <pc:spChg chg="mod">
          <ac:chgData name="Geedula Akshaya" userId="206d5386ba9af796" providerId="LiveId" clId="{57F884FF-BA75-42F0-85CB-FD060DD436EC}" dt="2026-10-18T12:27:30.763" v="255" actId="255"/>
          <ac:spMkLst>
            <pc:docMk/>
            <pc:sldMk cId="127098434" sldId="256"/>
            <ac:spMk id="10" creationId="{00000000-0000-0000-0000-000000000000}"/>
          </ac:spMkLst>
        </pc:spChg>
      </pc:sldChg>
      <pc:sldChg chg="modSp mod">
        <pc:chgData name="Geedula Akshaya" userId="206d5386ba9af796" providerId="LiveId" clId="{57F884FF-BA75-42F0-85CB-FD060DD436EC}" dt="2026-10-18T12:33:32.558" v="273" actId="1076"/>
        <pc:sldMkLst>
          <pc:docMk/>
          <pc:sldMk cId="1586207193" sldId="257"/>
        </pc:sldMkLst>
        <pc:spChg chg="mod">
          <ac:chgData name="Geedula Akshaya" userId="206d5386ba9af796" providerId="LiveId" clId="{57F884FF-BA75-42F0-85CB-FD060DD436EC}" dt="2026-10-18T12:33:32.558" v="273" actId="1076"/>
          <ac:spMkLst>
            <pc:docMk/>
            <pc:sldMk cId="1586207193" sldId="257"/>
            <ac:spMk id="5" creationId="{7BF5A0D5-E2FC-F678-4782-02E25F169099}"/>
          </ac:spMkLst>
        </pc:spChg>
        <pc:spChg chg="mod">
          <ac:chgData name="Geedula Akshaya" userId="206d5386ba9af796" providerId="LiveId" clId="{57F884FF-BA75-42F0-85CB-FD060DD436EC}" dt="2026-10-18T12:23:59.913" v="239" actId="1076"/>
          <ac:spMkLst>
            <pc:docMk/>
            <pc:sldMk cId="1586207193" sldId="257"/>
            <ac:spMk id="9" creationId="{00000000-0000-0000-0000-000000000000}"/>
          </ac:spMkLst>
        </pc:spChg>
      </pc:sldChg>
      <pc:sldChg chg="modSp mod">
        <pc:chgData name="Geedula Akshaya" userId="206d5386ba9af796" providerId="LiveId" clId="{57F884FF-BA75-42F0-85CB-FD060DD436EC}" dt="2026-10-18T12:28:16.314" v="258" actId="255"/>
        <pc:sldMkLst>
          <pc:docMk/>
          <pc:sldMk cId="957169330" sldId="258"/>
        </pc:sldMkLst>
        <pc:spChg chg="mod">
          <ac:chgData name="Geedula Akshaya" userId="206d5386ba9af796" providerId="LiveId" clId="{57F884FF-BA75-42F0-85CB-FD060DD436EC}" dt="2026-10-18T12:28:16.314" v="258" actId="255"/>
          <ac:spMkLst>
            <pc:docMk/>
            <pc:sldMk cId="957169330" sldId="258"/>
            <ac:spMk id="5" creationId="{B29F1A7B-CDFD-1174-6686-C54D44499F0D}"/>
          </ac:spMkLst>
        </pc:spChg>
        <pc:spChg chg="mod">
          <ac:chgData name="Geedula Akshaya" userId="206d5386ba9af796" providerId="LiveId" clId="{57F884FF-BA75-42F0-85CB-FD060DD436EC}" dt="2026-10-18T12:27:59.196" v="257" actId="1076"/>
          <ac:spMkLst>
            <pc:docMk/>
            <pc:sldMk cId="957169330" sldId="258"/>
            <ac:spMk id="9" creationId="{00000000-0000-0000-0000-000000000000}"/>
          </ac:spMkLst>
        </pc:spChg>
      </pc:sldChg>
      <pc:sldChg chg="delSp modSp mod">
        <pc:chgData name="Geedula Akshaya" userId="206d5386ba9af796" providerId="LiveId" clId="{57F884FF-BA75-42F0-85CB-FD060DD436EC}" dt="2026-10-18T12:29:27.687" v="259" actId="255"/>
        <pc:sldMkLst>
          <pc:docMk/>
          <pc:sldMk cId="441322690" sldId="259"/>
        </pc:sldMkLst>
        <pc:spChg chg="mod">
          <ac:chgData name="Geedula Akshaya" userId="206d5386ba9af796" providerId="LiveId" clId="{57F884FF-BA75-42F0-85CB-FD060DD436EC}" dt="2026-10-18T11:07:37.130" v="7" actId="20577"/>
          <ac:spMkLst>
            <pc:docMk/>
            <pc:sldMk cId="441322690" sldId="259"/>
            <ac:spMk id="5" creationId="{CA25A655-DC4C-09F2-C1EC-B86470C4EF8E}"/>
          </ac:spMkLst>
        </pc:spChg>
        <pc:spChg chg="mod">
          <ac:chgData name="Geedula Akshaya" userId="206d5386ba9af796" providerId="LiveId" clId="{57F884FF-BA75-42F0-85CB-FD060DD436EC}" dt="2026-10-18T12:29:27.687" v="259" actId="255"/>
          <ac:spMkLst>
            <pc:docMk/>
            <pc:sldMk cId="441322690" sldId="259"/>
            <ac:spMk id="7" creationId="{00000000-0000-0000-0000-000000000000}"/>
          </ac:spMkLst>
        </pc:spChg>
        <pc:spChg chg="del mod">
          <ac:chgData name="Geedula Akshaya" userId="206d5386ba9af796" providerId="LiveId" clId="{57F884FF-BA75-42F0-85CB-FD060DD436EC}" dt="2026-10-18T11:08:40.051" v="226"/>
          <ac:spMkLst>
            <pc:docMk/>
            <pc:sldMk cId="441322690" sldId="259"/>
            <ac:spMk id="7" creationId="{0C55E58C-B0A1-592B-C188-159D2460A24F}"/>
          </ac:spMkLst>
        </pc:spChg>
      </pc:sldChg>
      <pc:sldChg chg="delSp modSp mod">
        <pc:chgData name="Geedula Akshaya" userId="206d5386ba9af796" providerId="LiveId" clId="{57F884FF-BA75-42F0-85CB-FD060DD436EC}" dt="2026-10-18T11:09:26.368" v="237"/>
        <pc:sldMkLst>
          <pc:docMk/>
          <pc:sldMk cId="1869693364" sldId="269"/>
        </pc:sldMkLst>
        <pc:spChg chg="del mod">
          <ac:chgData name="Geedula Akshaya" userId="206d5386ba9af796" providerId="LiveId" clId="{57F884FF-BA75-42F0-85CB-FD060DD436EC}" dt="2026-10-18T11:09:26.368" v="237"/>
          <ac:spMkLst>
            <pc:docMk/>
            <pc:sldMk cId="1869693364" sldId="269"/>
            <ac:spMk id="7" creationId="{22433DFA-188C-57E0-60A9-12C9BEC19E87}"/>
          </ac:spMkLst>
        </pc:spChg>
        <pc:picChg chg="mod">
          <ac:chgData name="Geedula Akshaya" userId="206d5386ba9af796" providerId="LiveId" clId="{57F884FF-BA75-42F0-85CB-FD060DD436EC}" dt="2026-10-18T11:09:21.679" v="234" actId="1076"/>
          <ac:picMkLst>
            <pc:docMk/>
            <pc:sldMk cId="1869693364" sldId="269"/>
            <ac:picMk id="4" creationId="{757E2764-1CA4-C406-A54F-189D6D45C628}"/>
          </ac:picMkLst>
        </pc:picChg>
      </pc:sldChg>
      <pc:sldChg chg="modSp add mod">
        <pc:chgData name="Geedula Akshaya" userId="206d5386ba9af796" providerId="LiveId" clId="{57F884FF-BA75-42F0-85CB-FD060DD436EC}" dt="2026-10-18T12:29:45.519" v="264" actId="404"/>
        <pc:sldMkLst>
          <pc:docMk/>
          <pc:sldMk cId="2875595039" sldId="272"/>
        </pc:sldMkLst>
        <pc:spChg chg="mod">
          <ac:chgData name="Geedula Akshaya" userId="206d5386ba9af796" providerId="LiveId" clId="{57F884FF-BA75-42F0-85CB-FD060DD436EC}" dt="2026-10-18T11:08:22.327" v="222" actId="20577"/>
          <ac:spMkLst>
            <pc:docMk/>
            <pc:sldMk cId="2875595039" sldId="272"/>
            <ac:spMk id="5" creationId="{CA25A655-DC4C-09F2-C1EC-B86470C4EF8E}"/>
          </ac:spMkLst>
        </pc:spChg>
        <pc:spChg chg="mod">
          <ac:chgData name="Geedula Akshaya" userId="206d5386ba9af796" providerId="LiveId" clId="{57F884FF-BA75-42F0-85CB-FD060DD436EC}" dt="2026-10-18T11:08:30.518" v="223" actId="1076"/>
          <ac:spMkLst>
            <pc:docMk/>
            <pc:sldMk cId="2875595039" sldId="272"/>
            <ac:spMk id="7" creationId="{0C55E58C-B0A1-592B-C188-159D2460A24F}"/>
          </ac:spMkLst>
        </pc:spChg>
        <pc:spChg chg="mod">
          <ac:chgData name="Geedula Akshaya" userId="206d5386ba9af796" providerId="LiveId" clId="{57F884FF-BA75-42F0-85CB-FD060DD436EC}" dt="2026-10-18T12:29:45.519" v="264" actId="404"/>
          <ac:spMkLst>
            <pc:docMk/>
            <pc:sldMk cId="2875595039" sldId="272"/>
            <ac:spMk id="8" creationId="{00000000-0000-0000-0000-000000000000}"/>
          </ac:spMkLst>
        </pc:spChg>
      </pc:sldChg>
      <pc:sldChg chg="delSp modSp add mod">
        <pc:chgData name="Geedula Akshaya" userId="206d5386ba9af796" providerId="LiveId" clId="{57F884FF-BA75-42F0-85CB-FD060DD436EC}" dt="2026-10-18T11:09:18.354" v="232"/>
        <pc:sldMkLst>
          <pc:docMk/>
          <pc:sldMk cId="1566334464" sldId="273"/>
        </pc:sldMkLst>
        <pc:spChg chg="del mod">
          <ac:chgData name="Geedula Akshaya" userId="206d5386ba9af796" providerId="LiveId" clId="{57F884FF-BA75-42F0-85CB-FD060DD436EC}" dt="2026-10-18T11:09:18.354" v="232"/>
          <ac:spMkLst>
            <pc:docMk/>
            <pc:sldMk cId="1566334464" sldId="273"/>
            <ac:spMk id="5" creationId="{60C8C123-043B-2ED3-84F6-17991469FBE4}"/>
          </ac:spMkLst>
        </pc:spChg>
        <pc:spChg chg="mod">
          <ac:chgData name="Geedula Akshaya" userId="206d5386ba9af796" providerId="LiveId" clId="{57F884FF-BA75-42F0-85CB-FD060DD436EC}" dt="2026-10-18T11:09:15.705" v="230" actId="1076"/>
          <ac:spMkLst>
            <pc:docMk/>
            <pc:sldMk cId="1566334464" sldId="273"/>
            <ac:spMk id="7" creationId="{22433DFA-188C-57E0-60A9-12C9BEC19E8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8CB347-8F87-83E9-9B4C-5D3A5344CD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04CEA1-5FF4-4F71-CCDC-F4F06206F1B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3A3E7F-D374-4C8B-9ABE-9FF106754FD6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D93159-482B-BDAB-567D-6514B089D0F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B255EA-8C97-88E9-61F6-8727199E9E4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A6E518-A314-41CC-873A-C8AC4F0A71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602479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7DE2F8-AFEA-4267-9702-504F8628A76F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F56FA3-27B0-4D35-9CE1-E31706E907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63517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5BD8A-1419-6226-0C29-30BD52CB5B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4CBF3F-0F49-7987-9D3A-26EBF85BE9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2EE60-EEEC-922F-3928-5F8481AD3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95DBD-4C80-4FBC-BB48-10E8CBD6C823}" type="datetime1">
              <a:rPr lang="en-IN" smtClean="0"/>
              <a:t>18-10-2026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87983-2D0E-8E7D-8427-43AFA584F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5D881-475B-D5F2-22B2-D7C95E45B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F4310-7428-4473-89E5-C0ECB7DED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7045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EBDB5-81CD-8971-3747-FD866EFC3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F0692-3E54-6FF0-7BCE-13FF7045E3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7AADDA-E132-41EB-0114-0FC4EEA14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DAD39-502A-4669-B8F2-5B380AEA95A6}" type="datetime1">
              <a:rPr lang="en-IN" smtClean="0"/>
              <a:t>18-10-2026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16B74-1248-1FFF-CF32-FD4E1A8A5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84082-79B3-8111-BF8E-2EE83DBB2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F4310-7428-4473-89E5-C0ECB7DED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1808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5064A-1C27-AC49-12CD-0D7FB746A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39F502-1B92-2D00-18FF-E5DC3AE6E6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B2D242-4ECB-1762-A666-6133605BB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BD5FA-A195-4ADE-BD0F-1E146E6AE74E}" type="datetime1">
              <a:rPr lang="en-IN" smtClean="0"/>
              <a:t>18-10-2026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5AE0C2-2FA4-26AE-A2E6-D6763B3B5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58A1D-18D1-77C2-FE44-4ECA84ACA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F4310-7428-4473-89E5-C0ECB7DED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2022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43AE9-9170-892E-2DBD-31AB0FD69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B226C-ECB6-2443-99DD-BD91EB49A6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4C14D7-3754-929C-CED7-0F8542AC64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B32934-4911-AB99-3B29-B24FC3435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E10D1-42F8-4288-89FB-3992AE49AD07}" type="datetime1">
              <a:rPr lang="en-IN" smtClean="0"/>
              <a:t>18-10-2026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23AC1B-C09D-21B5-DEDC-21F0CBAB8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DE53E-6233-A03D-7080-725A6823C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F4310-7428-4473-89E5-C0ECB7DED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4875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B373C-AE56-0D70-2200-0C24F8DC3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DB4C65-A017-7DBB-1F50-556042585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143236-7E39-EEA8-1BD7-F47A1FF84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4F88D2-AD0B-18D5-FF0D-E654CD2C37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CB84F2-3694-51ED-BF30-F7CBF24E5A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BA4201-3725-4AB1-09A2-8AA2482F6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98152-607A-4C16-81CC-89D3C07FE15A}" type="datetime1">
              <a:rPr lang="en-IN" smtClean="0"/>
              <a:t>18-10-2026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7A3539-2EDA-DAD1-4FEE-675D5E2B4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478BA9-53F3-735D-0936-8FA1D7B61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F4310-7428-4473-89E5-C0ECB7DED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2775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99BEE-E3B7-3773-5E32-218560FA8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454FB4-3AA3-AF64-7675-4F61E97A8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8090F-823A-4E83-9DF4-B8ACAF93D40A}" type="datetime1">
              <a:rPr lang="en-IN" smtClean="0"/>
              <a:t>18-10-2026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61DBA8-BF21-18C9-9458-0B17109C9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E55E68-77AC-43A0-7AF8-56205C4B8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F4310-7428-4473-89E5-C0ECB7DED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022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A1FAD2-94F8-844A-A8E7-AA970FB95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24F72-5A6E-4DA7-8E67-334E5F8DE771}" type="datetime1">
              <a:rPr lang="en-IN" smtClean="0"/>
              <a:t>18-10-2026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A5A49B-6BF0-25BD-A367-9E914558B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589298-355C-F6DB-2236-254AD3429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F4310-7428-4473-89E5-C0ECB7DED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235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0C94E-78BE-F383-1CD3-83639D26B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BF6EC-685F-BA41-1685-BB44C156D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50380C-F638-CD5C-5C7A-1E402F9E3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8FB99-9FCC-353C-9AD0-1CADCAA5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D4EF3-1E6F-4501-BD94-16E0A613D340}" type="datetime1">
              <a:rPr lang="en-IN" smtClean="0"/>
              <a:t>18-10-2026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4481DD-6248-C37C-B581-F43A93ABC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41C960-40C2-5E9F-A3AC-F84AF24E9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F4310-7428-4473-89E5-C0ECB7DED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1171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668CE-65C0-BE74-E707-2A82AB450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491B8B-26DC-DC39-9AAB-2B050391ECA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CC0A89-4A63-32C4-A4C5-787A91033F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FD70F4-BA37-9E5D-F9E6-3A2E4CF51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FF9E9-8FAA-4B97-81E8-AD1D6BB24848}" type="datetime1">
              <a:rPr lang="en-IN" smtClean="0"/>
              <a:t>18-10-2026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2F4212-DC38-0691-A0D2-068F95494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4A5E9A-CFDE-892C-FEFD-376253090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F4310-7428-4473-89E5-C0ECB7DED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4796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9B43D-2F7D-C88B-4115-553A45F58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82D7D9-DA5B-A333-8DF6-4BC31F175C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A4D53-136B-96CC-4F12-343B8CD24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65DB9-801C-4DFF-B500-5D1702C504A9}" type="datetime1">
              <a:rPr lang="en-IN" smtClean="0"/>
              <a:t>18-10-2026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4A99D-35B7-00E3-7744-E53249324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085D7-1D5F-20BF-FE60-D67012860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F4310-7428-4473-89E5-C0ECB7DED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1519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923C04-6D54-DF98-0BEF-9D0A40E964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3FA5FE-900F-3326-90A8-F5E61F8BF4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21F3D-34B2-0425-7D33-60AFF9D72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CD06E-34A2-497B-999E-9F3F21FA79C0}" type="datetime1">
              <a:rPr lang="en-IN" smtClean="0"/>
              <a:t>18-10-2026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730ECE-1461-FED5-D8FA-DAE08977B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C7B5B9-B32A-0085-B7CF-0DE7A52C1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F4310-7428-4473-89E5-C0ECB7DED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9705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6C6522-3281-52D9-2731-88E0FEF6E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55AADB-F4E6-FAFF-8960-F36BDC7E4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2AEAD-7958-8143-84B7-B7BA0F9BC8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E4BDF1-8D39-487F-ABF5-20327CAB8D58}" type="datetime1">
              <a:rPr lang="en-IN" smtClean="0"/>
              <a:t>18-10-2026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7892F8-F08E-93A0-052D-C60C4096BE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20DCB-126B-D97D-A019-49834EC2D7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EF4310-7428-4473-89E5-C0ECB7DEDF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1528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7D759AB-D8CF-2761-A3DD-F6613C4CED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4EC786-BBFF-4914-792B-69599DEA8188}"/>
              </a:ext>
            </a:extLst>
          </p:cNvPr>
          <p:cNvSpPr txBox="1"/>
          <p:nvPr/>
        </p:nvSpPr>
        <p:spPr>
          <a:xfrm>
            <a:off x="1384183" y="958161"/>
            <a:ext cx="8701356" cy="1241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123B5D"/>
                </a:solidFill>
                <a:latin typeface="Calibri"/>
              </a:defRPr>
            </a:pPr>
            <a:r>
              <a:rPr dirty="0"/>
              <a:t>CURE: City Unified Response &amp; Evolution Platform</a:t>
            </a:r>
          </a:p>
          <a:p>
            <a:pPr>
              <a:spcAft>
                <a:spcPts val="400"/>
              </a:spcAft>
              <a:defRPr sz="1400" b="1">
                <a:solidFill>
                  <a:srgbClr val="0F766E"/>
                </a:solidFill>
                <a:latin typeface="Calibri"/>
              </a:defRPr>
            </a:pPr>
            <a:r>
              <a:rPr dirty="0"/>
              <a:t>An AI-Assisted Civic Decision-Support System for Inter-Agency Infrastructure Management</a:t>
            </a:r>
          </a:p>
          <a:p>
            <a:r>
              <a:rPr sz="1400" b="1" dirty="0">
                <a:solidFill>
                  <a:srgbClr val="123B5D"/>
                </a:solidFill>
              </a:rPr>
              <a:t>Sector: </a:t>
            </a:r>
            <a:r>
              <a:rPr sz="1400" dirty="0">
                <a:solidFill>
                  <a:srgbClr val="1E293B"/>
                </a:solidFill>
              </a:rPr>
              <a:t>Smart Cities &amp; Urban Civic Governance  |  </a:t>
            </a:r>
            <a:r>
              <a:rPr sz="1400" b="1" dirty="0">
                <a:solidFill>
                  <a:srgbClr val="123B5D"/>
                </a:solidFill>
              </a:rPr>
              <a:t>Sub-System: </a:t>
            </a:r>
            <a:r>
              <a:rPr sz="1400" dirty="0">
                <a:solidFill>
                  <a:srgbClr val="1E293B"/>
                </a:solidFill>
              </a:rPr>
              <a:t>Municipal Grievance Redressal, Road Infrastructure &amp; Stormwater Drainage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8AD158-804A-A380-B7BB-DC7C34BC7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4983" y="6322423"/>
            <a:ext cx="391885" cy="399053"/>
          </a:xfrm>
        </p:spPr>
        <p:txBody>
          <a:bodyPr/>
          <a:lstStyle/>
          <a:p>
            <a:fld id="{81EF4310-7428-4473-89E5-C0ECB7DEDFC2}" type="slidenum">
              <a:rPr lang="en-IN" smtClean="0"/>
              <a:t>1</a:t>
            </a:fld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EBD50F-DCC5-39A2-8A1E-213030594C80}"/>
              </a:ext>
            </a:extLst>
          </p:cNvPr>
          <p:cNvSpPr txBox="1"/>
          <p:nvPr/>
        </p:nvSpPr>
        <p:spPr>
          <a:xfrm>
            <a:off x="1384183" y="4689446"/>
            <a:ext cx="1470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100" b="1">
                <a:solidFill>
                  <a:srgbClr val="123B5D"/>
                </a:solidFill>
                <a:latin typeface="Calibri"/>
              </a:defRPr>
            </a:pPr>
            <a:r>
              <a:rPr dirty="0"/>
              <a:t>Team Details: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rPr dirty="0"/>
              <a:t>1. Lead Systems Architect &amp; Developer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rPr dirty="0"/>
              <a:t>2. AI/ML &amp; Data Engineering Lead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rPr dirty="0"/>
              <a:t>3. UI/UX &amp; Field Workflow Lead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rPr dirty="0"/>
              <a:t>4. Systems Dynamics &amp; Policy Lead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rPr dirty="0"/>
              <a:t>Dept. of Artificial Intelligence / CSE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3BEB17-C436-17DA-AC05-245B6BC9D6B8}"/>
              </a:ext>
            </a:extLst>
          </p:cNvPr>
          <p:cNvSpPr txBox="1"/>
          <p:nvPr/>
        </p:nvSpPr>
        <p:spPr>
          <a:xfrm>
            <a:off x="8070209" y="4689446"/>
            <a:ext cx="2020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100" b="1">
                <a:solidFill>
                  <a:srgbClr val="123B5D"/>
                </a:solidFill>
                <a:latin typeface="Calibri"/>
              </a:defRPr>
            </a:pPr>
            <a:r>
              <a:t>Under Guidance of: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Faculty Mentor &amp; Project Guide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Department of Artificial Intelligence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School of Engineering &amp; Technology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Problem Solving in Engineering (PSE-1)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External Evaluation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2246467"/>
            <a:ext cx="9601200" cy="2642262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150" b="1" dirty="0">
                <a:solidFill>
                  <a:srgbClr val="123B5D"/>
                </a:solidFill>
                <a:latin typeface="Calibri"/>
              </a:rPr>
              <a:t>1.  Core Engineering Paradigm: </a:t>
            </a:r>
            <a:r>
              <a:rPr sz="1150" b="0" dirty="0">
                <a:solidFill>
                  <a:srgbClr val="1E293B"/>
                </a:solidFill>
                <a:latin typeface="Calibri"/>
              </a:rPr>
              <a:t>Transitioning municipal governance from isolated reactive ticket-patching to proactive, systems-oriented root-cause resolution.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150" b="1" dirty="0">
                <a:solidFill>
                  <a:srgbClr val="123B5D"/>
                </a:solidFill>
                <a:latin typeface="Calibri"/>
              </a:rPr>
              <a:t>2.  Citizen-Centric Simplicity: </a:t>
            </a:r>
            <a:r>
              <a:rPr sz="1150" b="0" dirty="0">
                <a:solidFill>
                  <a:srgbClr val="1E293B"/>
                </a:solidFill>
                <a:latin typeface="Calibri"/>
              </a:rPr>
              <a:t>Natural 30-second problem intake via vernacular voice (Telugu/Hindi/English), text, or photo without bureaucratic guesswork.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150" b="1" dirty="0">
                <a:solidFill>
                  <a:srgbClr val="123B5D"/>
                </a:solidFill>
                <a:latin typeface="Calibri"/>
              </a:rPr>
              <a:t>3.  Automated Inter-Agency Routing: </a:t>
            </a:r>
            <a:r>
              <a:rPr sz="1150" b="0" dirty="0">
                <a:solidFill>
                  <a:srgbClr val="1E293B"/>
                </a:solidFill>
                <a:latin typeface="Calibri"/>
              </a:rPr>
              <a:t>Algorithmic mapping of 12 citizen problem categories directly to municipal wings (GHMC Engineering, HMWS&amp;SB, Traffic Police).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150" b="1" dirty="0">
                <a:solidFill>
                  <a:srgbClr val="123B5D"/>
                </a:solidFill>
                <a:latin typeface="Calibri"/>
              </a:rPr>
              <a:t>4.  Auditable Operational Lifecycle: </a:t>
            </a:r>
            <a:r>
              <a:rPr sz="1150" b="0" dirty="0">
                <a:solidFill>
                  <a:srgbClr val="1E293B"/>
                </a:solidFill>
                <a:latin typeface="Calibri"/>
              </a:rPr>
              <a:t>Full visibility for field engineers across 6 stages (Received -&gt; Assigned -&gt; Inspection -&gt; Action -&gt; Verification -&gt; Closed).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150" b="1" dirty="0">
                <a:solidFill>
                  <a:srgbClr val="123B5D"/>
                </a:solidFill>
                <a:latin typeface="Calibri"/>
              </a:rPr>
              <a:t>5.  Closed-Loop Citizen Verification: </a:t>
            </a:r>
            <a:r>
              <a:rPr sz="1150" b="0" dirty="0">
                <a:solidFill>
                  <a:srgbClr val="1E293B"/>
                </a:solidFill>
                <a:latin typeface="Calibri"/>
              </a:rPr>
              <a:t>Citizen sign-off authority ('Was it actually fixed?') prevents premature closure and automatically triggers recurrence detection.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150" b="1" dirty="0">
                <a:solidFill>
                  <a:srgbClr val="123B5D"/>
                </a:solidFill>
                <a:latin typeface="Calibri"/>
              </a:rPr>
              <a:t>6.  Spatial-Temporal Root Cause Engine: </a:t>
            </a:r>
            <a:r>
              <a:rPr sz="1150" b="0" dirty="0">
                <a:solidFill>
                  <a:srgbClr val="1E293B"/>
                </a:solidFill>
                <a:latin typeface="Calibri"/>
              </a:rPr>
              <a:t>Traces cascading failure loops (Precipitation -&gt; Silt Blockage -&gt; Road Base Saturation -&gt; Pothole Recurrence).</a:t>
            </a:r>
          </a:p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150" b="1" dirty="0">
                <a:solidFill>
                  <a:srgbClr val="123B5D"/>
                </a:solidFill>
                <a:latin typeface="Calibri"/>
              </a:rPr>
              <a:t>7.  Multi-Agency Joint Work Orders (JWOs): </a:t>
            </a:r>
            <a:r>
              <a:rPr sz="1150" b="0" dirty="0">
                <a:solidFill>
                  <a:srgbClr val="1E293B"/>
                </a:solidFill>
                <a:latin typeface="Calibri"/>
              </a:rPr>
              <a:t>Binds drainage desilting, polymer road repaving, and traffic management into a single synchronized operational dispatch.</a:t>
            </a:r>
          </a:p>
        </p:txBody>
      </p:sp>
    </p:spTree>
    <p:extLst>
      <p:ext uri="{BB962C8B-B14F-4D97-AF65-F5344CB8AC3E}">
        <p14:creationId xmlns:p14="http://schemas.microsoft.com/office/powerpoint/2010/main" val="127098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002107-462C-E628-739A-65A4F8E36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F4310-7428-4473-89E5-C0ECB7DEDFC2}" type="slidenum">
              <a:rPr lang="en-IN" smtClean="0"/>
              <a:t>2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2DC1F1-070C-8670-7CB6-49674B0D9C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F5A0D5-E2FC-F678-4782-02E25F169099}"/>
              </a:ext>
            </a:extLst>
          </p:cNvPr>
          <p:cNvSpPr txBox="1"/>
          <p:nvPr/>
        </p:nvSpPr>
        <p:spPr>
          <a:xfrm>
            <a:off x="1494501" y="769298"/>
            <a:ext cx="9202995" cy="777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300"/>
              </a:spcAft>
              <a:defRPr sz="2200" b="1">
                <a:solidFill>
                  <a:srgbClr val="123B5D"/>
                </a:solidFill>
                <a:latin typeface="Calibri"/>
              </a:defRPr>
            </a:pPr>
            <a:r>
              <a:rPr dirty="0"/>
              <a:t>AGENDA: Presentation Outline &amp; Evaluation Tracks</a:t>
            </a:r>
          </a:p>
          <a:p>
            <a:pPr algn="ctr">
              <a:spcAft>
                <a:spcPts val="400"/>
              </a:spcAft>
              <a:defRPr sz="1300" b="1">
                <a:solidFill>
                  <a:srgbClr val="0F766E"/>
                </a:solidFill>
                <a:latin typeface="Calibri"/>
              </a:defRPr>
            </a:pPr>
            <a:r>
              <a:rPr sz="2000" dirty="0"/>
              <a:t>Structured Systems Thinking Lifecycle for Municipal Transformation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8CBF45-E49D-62D9-C1E4-AAA85F45E7F9}"/>
              </a:ext>
            </a:extLst>
          </p:cNvPr>
          <p:cNvSpPr txBox="1"/>
          <p:nvPr/>
        </p:nvSpPr>
        <p:spPr>
          <a:xfrm>
            <a:off x="11713027" y="6259810"/>
            <a:ext cx="5573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                                                                                                                                        </a:t>
            </a:r>
            <a:fld id="{81EF4310-7428-4473-89E5-C0ECB7DEDFC2}" type="slidenum">
              <a:rPr lang="en-IN" sz="1200" smtClean="0"/>
              <a:pPr/>
              <a:t>2</a:t>
            </a:fld>
            <a:endParaRPr lang="en-IN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228B47-0AD5-CDA0-0E7A-83FB24DF26AA}"/>
              </a:ext>
            </a:extLst>
          </p:cNvPr>
          <p:cNvSpPr txBox="1"/>
          <p:nvPr/>
        </p:nvSpPr>
        <p:spPr>
          <a:xfrm>
            <a:off x="664389" y="1757590"/>
            <a:ext cx="878375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1657350" lvl="3" indent="-285750">
              <a:buFont typeface="Arial" panose="020B0604020202020204" pitchFamily="34" charset="0"/>
              <a:buChar char="•"/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58239" y="1714724"/>
            <a:ext cx="9875520" cy="4593822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1" dirty="0">
                <a:solidFill>
                  <a:srgbClr val="123B5D"/>
                </a:solidFill>
                <a:latin typeface="Calibri"/>
              </a:rPr>
              <a:t>1.  System Boundary &amp; Perfect System Vision: </a:t>
            </a:r>
            <a:r>
              <a:rPr sz="1600" b="0" dirty="0">
                <a:solidFill>
                  <a:srgbClr val="1E293B"/>
                </a:solidFill>
                <a:latin typeface="Calibri"/>
              </a:rPr>
              <a:t>Defining the ambitious 'How Might We' and establishing an ideal zero-friction, proactive civic governance baseline.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1" dirty="0">
                <a:solidFill>
                  <a:srgbClr val="123B5D"/>
                </a:solidFill>
                <a:latin typeface="Calibri"/>
              </a:rPr>
              <a:t>2.  Current State &amp; Observed Symptoms: </a:t>
            </a:r>
            <a:r>
              <a:rPr sz="1600" b="0" dirty="0">
                <a:solidFill>
                  <a:srgbClr val="1E293B"/>
                </a:solidFill>
                <a:latin typeface="Calibri"/>
              </a:rPr>
              <a:t>Deconstructing the reactive municipal redressal trap, persistent pothole cycles, and citizen dissatisfaction across urban wards.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1" dirty="0">
                <a:solidFill>
                  <a:srgbClr val="123B5D"/>
                </a:solidFill>
                <a:latin typeface="Calibri"/>
              </a:rPr>
              <a:t>3.  Multi-Stakeholder Identification &amp; Conflict Mapping: </a:t>
            </a:r>
            <a:r>
              <a:rPr sz="1600" b="0" dirty="0">
                <a:solidFill>
                  <a:srgbClr val="1E293B"/>
                </a:solidFill>
                <a:latin typeface="Calibri"/>
              </a:rPr>
              <a:t>Analyzing conflicting priorities between citizens, line engineering wings (GHMC/HMWS&amp;SB), traffic police, and administrative leadership.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1" dirty="0">
                <a:solidFill>
                  <a:srgbClr val="123B5D"/>
                </a:solidFill>
                <a:latin typeface="Calibri"/>
              </a:rPr>
              <a:t>4.  Root Cause Analysis (RCA) &amp; Causal Loops: </a:t>
            </a:r>
            <a:r>
              <a:rPr sz="1600" b="0" dirty="0">
                <a:solidFill>
                  <a:srgbClr val="1E293B"/>
                </a:solidFill>
                <a:latin typeface="Calibri"/>
              </a:rPr>
              <a:t>Diagnosing underlying structural drivers: uncoordinated trenching, lack of drainage telemetry, and linear redressal metrics.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1" dirty="0">
                <a:solidFill>
                  <a:srgbClr val="123B5D"/>
                </a:solidFill>
                <a:latin typeface="Calibri"/>
              </a:rPr>
              <a:t>5.  Severity Assessment &amp; Empirical Evidence: </a:t>
            </a:r>
            <a:r>
              <a:rPr sz="1600" b="0" dirty="0">
                <a:solidFill>
                  <a:srgbClr val="1E293B"/>
                </a:solidFill>
                <a:latin typeface="Calibri"/>
              </a:rPr>
              <a:t>Evaluating quantitative field data, recurring complaint cluster metrics, CAG audit disclosures, and economic cost of delays.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1" dirty="0">
                <a:solidFill>
                  <a:srgbClr val="123B5D"/>
                </a:solidFill>
                <a:latin typeface="Calibri"/>
              </a:rPr>
              <a:t>6.  Ideation, Leverage Points &amp; The CURE Proposal: </a:t>
            </a:r>
            <a:r>
              <a:rPr sz="1600" b="0" dirty="0">
                <a:solidFill>
                  <a:srgbClr val="1E293B"/>
                </a:solidFill>
                <a:latin typeface="Calibri"/>
              </a:rPr>
              <a:t>Applying Donella Meadows' leverage points and presenting CURE's closed-loop architecture as an engineered systemic intervention.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1" dirty="0">
                <a:solidFill>
                  <a:srgbClr val="123B5D"/>
                </a:solidFill>
                <a:latin typeface="Calibri"/>
              </a:rPr>
              <a:t>7.  Implementation Architecture, Challenges &amp; Future Scope: </a:t>
            </a:r>
            <a:r>
              <a:rPr sz="1600" b="0" dirty="0">
                <a:solidFill>
                  <a:srgbClr val="1E293B"/>
                </a:solidFill>
                <a:latin typeface="Calibri"/>
              </a:rPr>
              <a:t>Examining multi-tier technical implementation, current operational roadblocks, knowledge gaps, and authoritative literature.</a:t>
            </a:r>
          </a:p>
        </p:txBody>
      </p:sp>
    </p:spTree>
    <p:extLst>
      <p:ext uri="{BB962C8B-B14F-4D97-AF65-F5344CB8AC3E}">
        <p14:creationId xmlns:p14="http://schemas.microsoft.com/office/powerpoint/2010/main" val="1586207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01354-9EC7-65BE-04C3-615944514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7B94BC-12D6-2B45-E2C3-10D60707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F4310-7428-4473-89E5-C0ECB7DEDFC2}" type="slidenum">
              <a:rPr lang="en-IN" smtClean="0"/>
              <a:t>3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E68BCA-7CBB-CAF1-919E-B4C3C49E5E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29F1A7B-CDFD-1174-6686-C54D44499F0D}"/>
              </a:ext>
            </a:extLst>
          </p:cNvPr>
          <p:cNvSpPr txBox="1"/>
          <p:nvPr/>
        </p:nvSpPr>
        <p:spPr>
          <a:xfrm>
            <a:off x="1679196" y="823685"/>
            <a:ext cx="8833607" cy="777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300"/>
              </a:spcAft>
              <a:defRPr sz="2200" b="1">
                <a:solidFill>
                  <a:srgbClr val="123B5D"/>
                </a:solidFill>
                <a:latin typeface="Calibri"/>
              </a:defRPr>
            </a:pPr>
            <a:r>
              <a:rPr dirty="0"/>
              <a:t>Vision of a Perfect System: Proactive &amp; Self-Healing City Governance</a:t>
            </a:r>
          </a:p>
          <a:p>
            <a:pPr>
              <a:spcAft>
                <a:spcPts val="400"/>
              </a:spcAft>
              <a:defRPr sz="1300" b="1">
                <a:solidFill>
                  <a:srgbClr val="0F766E"/>
                </a:solidFill>
                <a:latin typeface="Calibri"/>
              </a:defRPr>
            </a:pPr>
            <a:r>
              <a:rPr sz="2000" dirty="0"/>
              <a:t>Ambitious 'How Might We' — Designing a Zero-Friction Municipal Ecosystem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1C2C02-6CE6-3FA8-A5BB-D846BFC0ADAD}"/>
              </a:ext>
            </a:extLst>
          </p:cNvPr>
          <p:cNvSpPr txBox="1"/>
          <p:nvPr/>
        </p:nvSpPr>
        <p:spPr>
          <a:xfrm>
            <a:off x="11747863" y="5834743"/>
            <a:ext cx="44413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			  </a:t>
            </a:r>
            <a:fld id="{81EF4310-7428-4473-89E5-C0ECB7DEDFC2}" type="slidenum">
              <a:rPr lang="en-IN" sz="1200" smtClean="0"/>
              <a:pPr/>
              <a:t>3</a:t>
            </a:fld>
            <a:endParaRPr lang="en-IN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1158239" y="1661936"/>
            <a:ext cx="9875520" cy="4876976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600" b="1" dirty="0">
                <a:solidFill>
                  <a:srgbClr val="123B5D"/>
                </a:solidFill>
                <a:latin typeface="Calibri"/>
              </a:rPr>
              <a:t>1.  Zero-Friction Citizen Intake in Under 30 Seconds: </a:t>
            </a:r>
            <a:r>
              <a:rPr sz="1600" b="0" dirty="0">
                <a:solidFill>
                  <a:srgbClr val="1E293B"/>
                </a:solidFill>
                <a:latin typeface="Calibri"/>
              </a:rPr>
              <a:t>Citizens effortlessly report grievances through vernacular voice (Telugu/Hindi/English), text, or photo without guessing departmental jurisdictions.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600" b="1" dirty="0">
                <a:solidFill>
                  <a:srgbClr val="123B5D"/>
                </a:solidFill>
                <a:latin typeface="Calibri"/>
              </a:rPr>
              <a:t>2.  Autonomous Inter-Agency Case Routing: </a:t>
            </a:r>
            <a:r>
              <a:rPr sz="1600" b="0" dirty="0">
                <a:solidFill>
                  <a:srgbClr val="1E293B"/>
                </a:solidFill>
                <a:latin typeface="Calibri"/>
              </a:rPr>
              <a:t>CURE's routing engine instantly interprets multi-departmental failures and automatically binds Roads, Water, and Traffic agencies into a shared ticket.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600" b="1" dirty="0">
                <a:solidFill>
                  <a:srgbClr val="123B5D"/>
                </a:solidFill>
                <a:latin typeface="Calibri"/>
              </a:rPr>
              <a:t>3.  Predictive Failure Prevention Before Grievances Emerge: </a:t>
            </a:r>
            <a:r>
              <a:rPr sz="1600" b="0" dirty="0">
                <a:solidFill>
                  <a:srgbClr val="1E293B"/>
                </a:solidFill>
                <a:latin typeface="Calibri"/>
              </a:rPr>
              <a:t>Weather telemetry surges and asset age automatically trigger preventive desilting and road base sealing before seasonal potholes manifest.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600" b="1" dirty="0">
                <a:solidFill>
                  <a:srgbClr val="123B5D"/>
                </a:solidFill>
                <a:latin typeface="Calibri"/>
              </a:rPr>
              <a:t>4.  Complete Elimination of Mandatory Office Visits: </a:t>
            </a:r>
            <a:r>
              <a:rPr sz="1600" b="0" dirty="0">
                <a:solidFill>
                  <a:srgbClr val="1E293B"/>
                </a:solidFill>
                <a:latin typeface="Calibri"/>
              </a:rPr>
              <a:t>Real-time transparent tracking with live field inspection logs, photographic proof of work, and delay explanations posted directly to citizen dashboards.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600" b="1" dirty="0">
                <a:solidFill>
                  <a:srgbClr val="123B5D"/>
                </a:solidFill>
                <a:latin typeface="Calibri"/>
              </a:rPr>
              <a:t>5.  Closed-Loop Citizen Verification Authority: </a:t>
            </a:r>
            <a:r>
              <a:rPr sz="1600" b="0" dirty="0">
                <a:solidFill>
                  <a:srgbClr val="1E293B"/>
                </a:solidFill>
                <a:latin typeface="Calibri"/>
              </a:rPr>
              <a:t>Tickets cannot be unilaterally closed by municipal staff; case closure is legally locked until the citizen confirms: 'Yes, it was actually fixed.'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600" b="1" dirty="0">
                <a:solidFill>
                  <a:srgbClr val="123B5D"/>
                </a:solidFill>
                <a:latin typeface="Calibri"/>
              </a:rPr>
              <a:t>6.  Dynamic Causal Urban Memory &amp; Spatial Digital Twin: </a:t>
            </a:r>
            <a:r>
              <a:rPr sz="1600" b="0" dirty="0">
                <a:solidFill>
                  <a:srgbClr val="1E293B"/>
                </a:solidFill>
                <a:latin typeface="Calibri"/>
              </a:rPr>
              <a:t>The city maintains continuous memory of infrastructure failures, ensuring that recurring damage triggers deep structural interventions rather than repetitive patching.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600" b="1" dirty="0">
                <a:solidFill>
                  <a:srgbClr val="123B5D"/>
                </a:solidFill>
                <a:latin typeface="Calibri"/>
              </a:rPr>
              <a:t>7.  Equitable, Evidence-Driven Resource Allocation: </a:t>
            </a:r>
            <a:r>
              <a:rPr sz="1600" b="0" dirty="0">
                <a:solidFill>
                  <a:srgbClr val="1E293B"/>
                </a:solidFill>
                <a:latin typeface="Calibri"/>
              </a:rPr>
              <a:t>Municipal budgets, equipment dispatches, and maintenance schedules are dynamically prioritized based on vulnerability indices and structural risks rather than political discretion.</a:t>
            </a:r>
          </a:p>
        </p:txBody>
      </p:sp>
    </p:spTree>
    <p:extLst>
      <p:ext uri="{BB962C8B-B14F-4D97-AF65-F5344CB8AC3E}">
        <p14:creationId xmlns:p14="http://schemas.microsoft.com/office/powerpoint/2010/main" val="957169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1851A-7ACF-FCAA-1A59-F020BFE4E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3DEA25-CF27-8B13-9155-7FC188832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F4310-7428-4473-89E5-C0ECB7DEDFC2}" type="slidenum">
              <a:rPr lang="en-IN" smtClean="0"/>
              <a:t>4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32D544-6033-7589-4A16-0DD283154B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25A655-DC4C-09F2-C1EC-B86470C4EF8E}"/>
              </a:ext>
            </a:extLst>
          </p:cNvPr>
          <p:cNvSpPr txBox="1"/>
          <p:nvPr/>
        </p:nvSpPr>
        <p:spPr>
          <a:xfrm>
            <a:off x="1679196" y="823685"/>
            <a:ext cx="883360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300"/>
              </a:spcAft>
              <a:defRPr sz="2200" b="1">
                <a:solidFill>
                  <a:srgbClr val="123B5D"/>
                </a:solidFill>
                <a:latin typeface="Calibri"/>
              </a:defRPr>
            </a:pPr>
            <a:r>
              <a:t>Current State &amp; Observed Symptoms: The Reactive Municipal Redressal Trap</a:t>
            </a:r>
          </a:p>
          <a:p>
            <a:pPr>
              <a:spcAft>
                <a:spcPts val="400"/>
              </a:spcAft>
              <a:defRPr sz="1300" b="1">
                <a:solidFill>
                  <a:srgbClr val="0F766E"/>
                </a:solidFill>
                <a:latin typeface="Calibri"/>
              </a:defRPr>
            </a:pPr>
            <a:r>
              <a:t>Examining Current Municipal Operations (MyGHMC / CPGRAMS / Prajavani)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4766DD-2D79-517B-1E94-335580B8008F}"/>
              </a:ext>
            </a:extLst>
          </p:cNvPr>
          <p:cNvSpPr txBox="1"/>
          <p:nvPr/>
        </p:nvSpPr>
        <p:spPr>
          <a:xfrm>
            <a:off x="11748952" y="6259810"/>
            <a:ext cx="5747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                                                                                                                                                        </a:t>
            </a:r>
            <a:fld id="{81EF4310-7428-4473-89E5-C0ECB7DEDFC2}" type="slidenum">
              <a:rPr lang="en-IN" sz="1200" smtClean="0"/>
              <a:pPr/>
              <a:t>4</a:t>
            </a:fld>
            <a:endParaRPr lang="en-IN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9875520" cy="42062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400" b="1" dirty="0">
                <a:solidFill>
                  <a:srgbClr val="123B5D"/>
                </a:solidFill>
                <a:latin typeface="Calibri"/>
              </a:rPr>
              <a:t>1.  Siloed &amp; Fragmented Department Operations: </a:t>
            </a:r>
            <a:r>
              <a:rPr sz="1400" b="0" dirty="0">
                <a:solidFill>
                  <a:srgbClr val="1E293B"/>
                </a:solidFill>
                <a:latin typeface="Calibri"/>
              </a:rPr>
              <a:t>Municipal wings (GHMC Roads, HMWS&amp;SB Water/Sewerage, TSSPDCL Electrical, Traffic Police) maintain isolated ticketing databases with zero horizontal communication.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400" b="1" dirty="0">
                <a:solidFill>
                  <a:srgbClr val="123B5D"/>
                </a:solidFill>
                <a:latin typeface="Calibri"/>
              </a:rPr>
              <a:t>2.  The Chronic 'Patch-and-Dig' Cycle: </a:t>
            </a:r>
            <a:r>
              <a:rPr sz="1400" b="0" dirty="0">
                <a:solidFill>
                  <a:srgbClr val="1E293B"/>
                </a:solidFill>
                <a:latin typeface="Calibri"/>
              </a:rPr>
              <a:t>Freshly paved asphalt is excavated within weeks for water pipeline repairs, or road patches cave in during the first rainfall because adjacent storm drains remain clogged.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400" b="1" dirty="0">
                <a:solidFill>
                  <a:srgbClr val="123B5D"/>
                </a:solidFill>
                <a:latin typeface="Calibri"/>
              </a:rPr>
              <a:t>3.  Excessive Citizen Burden &amp; Jurisdictional Guesswork: </a:t>
            </a:r>
            <a:r>
              <a:rPr sz="1400" b="0" dirty="0">
                <a:solidFill>
                  <a:srgbClr val="1E293B"/>
                </a:solidFill>
                <a:latin typeface="Calibri"/>
              </a:rPr>
              <a:t>Existing grievance portals force citizens to select technical engineering departments and administrative circles, leading to widespread misrouting and delayed action.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400" b="1" dirty="0">
                <a:solidFill>
                  <a:srgbClr val="123B5D"/>
                </a:solidFill>
                <a:latin typeface="Calibri"/>
              </a:rPr>
              <a:t>4.  Premature &amp; Unverified Ticket Closures: </a:t>
            </a:r>
            <a:r>
              <a:rPr sz="1400" b="0" dirty="0">
                <a:solidFill>
                  <a:srgbClr val="1E293B"/>
                </a:solidFill>
                <a:latin typeface="Calibri"/>
              </a:rPr>
              <a:t>Field teams routinely mark grievances 'Closed' upon applying cosmetic cold-mix patches or taking misleading photos, while the underlying defect remains unaddressed.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400" b="1" dirty="0">
                <a:solidFill>
                  <a:srgbClr val="123B5D"/>
                </a:solidFill>
                <a:latin typeface="Calibri"/>
              </a:rPr>
              <a:t>5.  Opacity in Tracking &amp; Mandatory Office Footfall: </a:t>
            </a:r>
            <a:r>
              <a:rPr sz="1400" b="0" dirty="0">
                <a:solidFill>
                  <a:srgbClr val="1E293B"/>
                </a:solidFill>
                <a:latin typeface="Calibri"/>
              </a:rPr>
              <a:t>Lack of information regarding assigned field officers, inspection dates, and inter-agency delays forces citizens to make repeated in-person visits to ward and zonal offices.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400" b="1" dirty="0">
                <a:solidFill>
                  <a:srgbClr val="123B5D"/>
                </a:solidFill>
                <a:latin typeface="Calibri"/>
              </a:rPr>
              <a:t>6.  Escalating Public Safety Hazards &amp; Economic Losses: </a:t>
            </a:r>
            <a:r>
              <a:rPr sz="1400" b="0" dirty="0">
                <a:solidFill>
                  <a:srgbClr val="1E293B"/>
                </a:solidFill>
                <a:latin typeface="Calibri"/>
              </a:rPr>
              <a:t>Unattended open manholes, persistent road cave-ins, and severe waterlogged junctions trigger massive traffic bottlenecks, vehicle damage, and fatal accidents.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400" b="1" dirty="0">
                <a:solidFill>
                  <a:srgbClr val="123B5D"/>
                </a:solidFill>
                <a:latin typeface="Calibri"/>
              </a:rPr>
              <a:t>7.  Inefficient Municipal Expenditure on Repetitive Repairs: </a:t>
            </a:r>
            <a:r>
              <a:rPr sz="1400" b="0" dirty="0">
                <a:solidFill>
                  <a:srgbClr val="1E293B"/>
                </a:solidFill>
                <a:latin typeface="Calibri"/>
              </a:rPr>
              <a:t>Municipal corporations expend crores of public funds annually on recurring emergency road patching that washes away every monsoon, yielding zero lasting infrastructure equity.</a:t>
            </a:r>
          </a:p>
        </p:txBody>
      </p:sp>
    </p:spTree>
    <p:extLst>
      <p:ext uri="{BB962C8B-B14F-4D97-AF65-F5344CB8AC3E}">
        <p14:creationId xmlns:p14="http://schemas.microsoft.com/office/powerpoint/2010/main" val="441322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1851A-7ACF-FCAA-1A59-F020BFE4E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3DEA25-CF27-8B13-9155-7FC188832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F4310-7428-4473-89E5-C0ECB7DEDFC2}" type="slidenum">
              <a:rPr lang="en-IN" smtClean="0"/>
              <a:t>5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32D544-6033-7589-4A16-0DD283154B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25A655-DC4C-09F2-C1EC-B86470C4EF8E}"/>
              </a:ext>
            </a:extLst>
          </p:cNvPr>
          <p:cNvSpPr txBox="1"/>
          <p:nvPr/>
        </p:nvSpPr>
        <p:spPr>
          <a:xfrm>
            <a:off x="1679196" y="823685"/>
            <a:ext cx="88336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4766DD-2D79-517B-1E94-335580B8008F}"/>
              </a:ext>
            </a:extLst>
          </p:cNvPr>
          <p:cNvSpPr txBox="1"/>
          <p:nvPr/>
        </p:nvSpPr>
        <p:spPr>
          <a:xfrm>
            <a:off x="11748952" y="6259810"/>
            <a:ext cx="5747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                                                                                                                                                        </a:t>
            </a:r>
            <a:fld id="{81EF4310-7428-4473-89E5-C0ECB7DEDFC2}" type="slidenum">
              <a:rPr lang="en-IN" sz="1200" smtClean="0"/>
              <a:pPr/>
              <a:t>5</a:t>
            </a:fld>
            <a:endParaRPr lang="en-IN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55E58C-B0A1-592B-C188-159D2460A24F}"/>
              </a:ext>
            </a:extLst>
          </p:cNvPr>
          <p:cNvSpPr txBox="1"/>
          <p:nvPr/>
        </p:nvSpPr>
        <p:spPr>
          <a:xfrm>
            <a:off x="2270854" y="823685"/>
            <a:ext cx="765029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2200" b="1">
                <a:solidFill>
                  <a:srgbClr val="123B5D"/>
                </a:solidFill>
                <a:latin typeface="Calibri"/>
              </a:defRPr>
            </a:pPr>
            <a:r>
              <a:t>Stakeholder Identification &amp; Multi-Dimensional Impact Mapping</a:t>
            </a:r>
            <a:endParaRPr lang="en-IN" dirty="0"/>
          </a:p>
          <a:p>
            <a:pPr>
              <a:spcAft>
                <a:spcPts val="400"/>
              </a:spcAft>
              <a:defRPr sz="1300" b="1">
                <a:solidFill>
                  <a:srgbClr val="0F766E"/>
                </a:solidFill>
                <a:latin typeface="Calibri"/>
              </a:defRPr>
            </a:pPr>
            <a:r>
              <a:t>Analyzing Roles, Incentives &amp; Conflicting Priorities in Civic Redressal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20240"/>
            <a:ext cx="9875520" cy="4100418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400" b="1" dirty="0">
                <a:solidFill>
                  <a:srgbClr val="123B5D"/>
                </a:solidFill>
                <a:latin typeface="Calibri"/>
              </a:rPr>
              <a:t>1.  Urban Citizens, Commuters &amp; Resident Welfare Associations (RWAs): </a:t>
            </a:r>
            <a:r>
              <a:rPr sz="1400" b="0" dirty="0">
                <a:solidFill>
                  <a:srgbClr val="1E293B"/>
                </a:solidFill>
                <a:latin typeface="Calibri"/>
              </a:rPr>
              <a:t>Primary system victims enduring severe commute delays, vehicular repair expenses, health risks from sewage overflows, and grievance fatigue from unverified closures.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400" b="1" dirty="0">
                <a:solidFill>
                  <a:srgbClr val="123B5D"/>
                </a:solidFill>
                <a:latin typeface="Calibri"/>
              </a:rPr>
              <a:t>2.  Zonal Commissioners &amp; Municipal Leadership: </a:t>
            </a:r>
            <a:r>
              <a:rPr sz="1400" b="0" dirty="0">
                <a:solidFill>
                  <a:srgbClr val="1E293B"/>
                </a:solidFill>
                <a:latin typeface="Calibri"/>
              </a:rPr>
              <a:t>Accountable for ward-level public satisfaction and budget performance, but hindered by lack of cross-departmental telemetry and systemic recurrence analytics.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400" b="1" dirty="0">
                <a:solidFill>
                  <a:srgbClr val="123B5D"/>
                </a:solidFill>
                <a:latin typeface="Calibri"/>
              </a:rPr>
              <a:t>3.  GHMC Roads &amp; Infrastructure Engineering Wing: </a:t>
            </a:r>
            <a:r>
              <a:rPr sz="1400" b="0" dirty="0">
                <a:solidFill>
                  <a:srgbClr val="1E293B"/>
                </a:solidFill>
                <a:latin typeface="Calibri"/>
              </a:rPr>
              <a:t>Responsible for road quality and structural pavement integrity, yet routinely undermined by uncoordinated utility trenching and water stagnation from blocked drains.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400" b="1" dirty="0">
                <a:solidFill>
                  <a:srgbClr val="123B5D"/>
                </a:solidFill>
                <a:latin typeface="Calibri"/>
              </a:rPr>
              <a:t>4.  HMWS&amp;SB (Hyderabad Water Supply &amp; Sewerage Board): </a:t>
            </a:r>
            <a:r>
              <a:rPr sz="1400" b="0" dirty="0">
                <a:solidFill>
                  <a:srgbClr val="1E293B"/>
                </a:solidFill>
                <a:latin typeface="Calibri"/>
              </a:rPr>
              <a:t>Focuses on potable water pipelines and stormwater sewer capacity; executes emergency pipeline excavations that inadvertently destroy road subgrades.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400" b="1" dirty="0">
                <a:solidFill>
                  <a:srgbClr val="123B5D"/>
                </a:solidFill>
                <a:latin typeface="Calibri"/>
              </a:rPr>
              <a:t>5.  Hyderabad Traffic Police &amp; Transit Authorities: </a:t>
            </a:r>
            <a:r>
              <a:rPr sz="1400" b="0" dirty="0">
                <a:solidFill>
                  <a:srgbClr val="1E293B"/>
                </a:solidFill>
                <a:latin typeface="Calibri"/>
              </a:rPr>
              <a:t>Manage road gridlocks and safety diversions caused by sudden pavement failures and waterlogged junctions without advance notice from repair crews.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400" b="1" dirty="0">
                <a:solidFill>
                  <a:srgbClr val="123B5D"/>
                </a:solidFill>
                <a:latin typeface="Calibri"/>
              </a:rPr>
              <a:t>6.  Field Inspection Engineers &amp; Maintenance Contractors: </a:t>
            </a:r>
            <a:r>
              <a:rPr sz="1400" b="0" dirty="0">
                <a:solidFill>
                  <a:srgbClr val="1E293B"/>
                </a:solidFill>
                <a:latin typeface="Calibri"/>
              </a:rPr>
              <a:t>Operate under low-bid volume contracts and rigid response-time quotas, incentivizing superficial quick patches over durable structural interventions.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400" b="1" dirty="0">
                <a:solidFill>
                  <a:srgbClr val="123B5D"/>
                </a:solidFill>
                <a:latin typeface="Calibri"/>
              </a:rPr>
              <a:t>7.  Emergency Services &amp; Vulnerable Demographics: </a:t>
            </a:r>
            <a:r>
              <a:rPr sz="1400" b="0" dirty="0">
                <a:solidFill>
                  <a:srgbClr val="1E293B"/>
                </a:solidFill>
                <a:latin typeface="Calibri"/>
              </a:rPr>
              <a:t>Ambulances and fire tenders face critical response delays due to avoidable civic bottlenecks; elderly citizens, children, and pedestrians face fatal open-drain hazards.</a:t>
            </a:r>
          </a:p>
        </p:txBody>
      </p:sp>
    </p:spTree>
    <p:extLst>
      <p:ext uri="{BB962C8B-B14F-4D97-AF65-F5344CB8AC3E}">
        <p14:creationId xmlns:p14="http://schemas.microsoft.com/office/powerpoint/2010/main" val="2875595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81860-652C-C79C-4E9C-223987D8C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551FD8-06F3-EA84-DEEA-820F766D4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F4310-7428-4473-89E5-C0ECB7DEDFC2}" type="slidenum">
              <a:rPr lang="en-IN" smtClean="0"/>
              <a:t>6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2BA78F-8D75-E91C-175F-C977C92E1D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2D008D-A9D1-78BA-E58D-FD9F757F9DCF}"/>
              </a:ext>
            </a:extLst>
          </p:cNvPr>
          <p:cNvSpPr txBox="1"/>
          <p:nvPr/>
        </p:nvSpPr>
        <p:spPr>
          <a:xfrm>
            <a:off x="1679196" y="918220"/>
            <a:ext cx="88336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300"/>
              </a:spcAft>
              <a:defRPr sz="2200" b="1">
                <a:solidFill>
                  <a:srgbClr val="123B5D"/>
                </a:solidFill>
                <a:latin typeface="Calibri"/>
              </a:defRPr>
            </a:pPr>
            <a:r>
              <a:t>Root Cause Analysis (RCA) &amp; Conflicting Stakeholder Priorities</a:t>
            </a:r>
          </a:p>
          <a:p>
            <a:pPr>
              <a:spcAft>
                <a:spcPts val="400"/>
              </a:spcAft>
              <a:defRPr sz="1300" b="1">
                <a:solidFill>
                  <a:srgbClr val="0F766E"/>
                </a:solidFill>
                <a:latin typeface="Calibri"/>
              </a:defRPr>
            </a:pPr>
            <a:r>
              <a:t>Why the Current System Fails: Structural Disconnects Behind Symptoms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23E07D-8152-C4DB-D92D-D652A4699F08}"/>
              </a:ext>
            </a:extLst>
          </p:cNvPr>
          <p:cNvSpPr txBox="1"/>
          <p:nvPr/>
        </p:nvSpPr>
        <p:spPr>
          <a:xfrm>
            <a:off x="11749481" y="6444476"/>
            <a:ext cx="4425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81EF4310-7428-4473-89E5-C0ECB7DEDFC2}" type="slidenum">
              <a:rPr lang="en-IN" sz="1200" smtClean="0"/>
              <a:pPr/>
              <a:t>6</a:t>
            </a:fld>
            <a:endParaRPr lang="en-IN" sz="12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20DF51C-8A9B-BCF8-BFD4-94A49E477B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5174239"/>
              </p:ext>
            </p:extLst>
          </p:nvPr>
        </p:nvGraphicFramePr>
        <p:xfrm>
          <a:off x="1097280" y="4114800"/>
          <a:ext cx="8128000" cy="116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6653572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9162843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23B5D"/>
                          </a:solidFill>
                          <a:latin typeface="Calibri"/>
                        </a:defRPr>
                      </a:pPr>
                      <a:r>
                        <a:t>Stakeholders Causing the Problem (Systemic Role)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23B5D"/>
                          </a:solidFill>
                          <a:latin typeface="Calibri"/>
                        </a:defRPr>
                      </a:pPr>
                      <a:r>
                        <a:t>Stakeholders Affected by the Problem (Impact)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6569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 Independent Utility Agencies (HMWS&amp;SB/TSSPDCL): Dig roads for pipe/cable maintenance without coordinated restoration schedules.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1. Citizens &amp; Daily Motorists: Face vehicular damage, chronic traffic bottlenecks, and life-threatening road accidents.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27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2. Maintenance Contractors &amp; Line Engineers: Prioritize speed of closure over quality, applying cold-mix patches on wet saturated sub-bases.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2. Municipal Taxpayers &amp; City Leadership: Waste municipal capital on repetitive rework; field engineers unfairly blamed for systemic flaws.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98245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97280" y="1691640"/>
            <a:ext cx="9875520" cy="2286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1080" b="1">
                <a:solidFill>
                  <a:srgbClr val="123B5D"/>
                </a:solidFill>
                <a:latin typeface="Calibri"/>
              </a:rPr>
              <a:t>1.  Departmental &amp; Jurisdictional Silos: </a:t>
            </a:r>
            <a:r>
              <a:rPr sz="1080" b="0">
                <a:solidFill>
                  <a:srgbClr val="1E293B"/>
                </a:solidFill>
                <a:latin typeface="Calibri"/>
              </a:rPr>
              <a:t>Utilities maintain walled-off databases with zero shared data layers, preventing cross-agency root-cause identification.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1080" b="1">
                <a:solidFill>
                  <a:srgbClr val="123B5D"/>
                </a:solidFill>
                <a:latin typeface="Calibri"/>
              </a:rPr>
              <a:t>2.  The 'Speed vs. Durability' Metric Trap: </a:t>
            </a:r>
            <a:r>
              <a:rPr sz="1080" b="0">
                <a:solidFill>
                  <a:srgbClr val="1E293B"/>
                </a:solidFill>
                <a:latin typeface="Calibri"/>
              </a:rPr>
              <a:t>Performance evaluations reward rapid ticket closure times rather than lasting repair durability, incentivizing quick superficial fixes.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1080" b="1">
                <a:solidFill>
                  <a:srgbClr val="123B5D"/>
                </a:solidFill>
                <a:latin typeface="Calibri"/>
              </a:rPr>
              <a:t>3.  Desynchronized Procurement &amp; Budget Cycles: </a:t>
            </a:r>
            <a:r>
              <a:rPr sz="1080" b="0">
                <a:solidFill>
                  <a:srgbClr val="1E293B"/>
                </a:solidFill>
                <a:latin typeface="Calibri"/>
              </a:rPr>
              <a:t>Road paving and drainage desilting operate on separate fiscal schedules, making collaborative joint execution legally and financially difficult.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1080" b="1">
                <a:solidFill>
                  <a:srgbClr val="123B5D"/>
                </a:solidFill>
                <a:latin typeface="Calibri"/>
              </a:rPr>
              <a:t>4.  Hydrological Neglect in Road Engineering: </a:t>
            </a:r>
            <a:r>
              <a:rPr sz="1080" b="0">
                <a:solidFill>
                  <a:srgbClr val="1E293B"/>
                </a:solidFill>
                <a:latin typeface="Calibri"/>
              </a:rPr>
              <a:t>Municipal engineers treat potholes as isolated asphalt defects, completely ignoring that water pooling from silted drains destroys the subgrade.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1080" b="1">
                <a:solidFill>
                  <a:srgbClr val="123B5D"/>
                </a:solidFill>
                <a:latin typeface="Calibri"/>
              </a:rPr>
              <a:t>5.  Lack of Mandatory Closed-Loop Verification: </a:t>
            </a:r>
            <a:r>
              <a:rPr sz="1080" b="0">
                <a:solidFill>
                  <a:srgbClr val="1E293B"/>
                </a:solidFill>
                <a:latin typeface="Calibri"/>
              </a:rPr>
              <a:t>Grievance portals allow administrative self-certification of completion without requiring confirmation from the citizen who filed the report.</a:t>
            </a:r>
          </a:p>
          <a:p>
            <a:pPr>
              <a:lnSpc>
                <a:spcPct val="115000"/>
              </a:lnSpc>
              <a:spcAft>
                <a:spcPts val="250"/>
              </a:spcAft>
            </a:pPr>
            <a:r>
              <a:rPr sz="1080" b="1">
                <a:solidFill>
                  <a:srgbClr val="123B5D"/>
                </a:solidFill>
                <a:latin typeface="Calibri"/>
              </a:rPr>
              <a:t>6.  Static Relational Databases Lacking Causal Memory: </a:t>
            </a:r>
            <a:r>
              <a:rPr sz="1080" b="0">
                <a:solidFill>
                  <a:srgbClr val="1E293B"/>
                </a:solidFill>
                <a:latin typeface="Calibri"/>
              </a:rPr>
              <a:t>Conventional ticketing systems record disconnected rows, preventing spatial-temporal clustering and recurrence pattern detection.</a:t>
            </a:r>
          </a:p>
        </p:txBody>
      </p:sp>
    </p:spTree>
    <p:extLst>
      <p:ext uri="{BB962C8B-B14F-4D97-AF65-F5344CB8AC3E}">
        <p14:creationId xmlns:p14="http://schemas.microsoft.com/office/powerpoint/2010/main" val="2960876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03AE1-D11F-3D80-3A7B-D65425DEB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58B71A-FA4F-11D5-4F8B-1F72D75DC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F4310-7428-4473-89E5-C0ECB7DEDFC2}" type="slidenum">
              <a:rPr lang="en-IN" smtClean="0"/>
              <a:t>7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AD9452-04BB-25DA-2AB4-7BC9E52189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5694089-A172-E8CC-FC99-4D065399677A}"/>
              </a:ext>
            </a:extLst>
          </p:cNvPr>
          <p:cNvSpPr txBox="1"/>
          <p:nvPr/>
        </p:nvSpPr>
        <p:spPr>
          <a:xfrm>
            <a:off x="1679196" y="823685"/>
            <a:ext cx="88336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300"/>
              </a:spcAft>
              <a:defRPr sz="2200" b="1">
                <a:solidFill>
                  <a:srgbClr val="123B5D"/>
                </a:solidFill>
                <a:latin typeface="Calibri"/>
              </a:defRPr>
            </a:pPr>
            <a:r>
              <a:t>Severity of the Problem: Data-Based Evidence &amp; Empirical Ground Truth</a:t>
            </a:r>
          </a:p>
          <a:p>
            <a:pPr>
              <a:spcAft>
                <a:spcPts val="400"/>
              </a:spcAft>
              <a:defRPr sz="1300" b="1">
                <a:solidFill>
                  <a:srgbClr val="0F766E"/>
                </a:solidFill>
                <a:latin typeface="Calibri"/>
              </a:defRPr>
            </a:pPr>
            <a:r>
              <a:t>Quantitative Reality of Municipal Infrastructure Failures in Indian Metros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D5B0FB-9C52-691F-DFCC-E47F4478C648}"/>
              </a:ext>
            </a:extLst>
          </p:cNvPr>
          <p:cNvSpPr txBox="1"/>
          <p:nvPr/>
        </p:nvSpPr>
        <p:spPr>
          <a:xfrm>
            <a:off x="11752976" y="6400412"/>
            <a:ext cx="3775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81EF4310-7428-4473-89E5-C0ECB7DEDFC2}" type="slidenum">
              <a:rPr lang="en-IN" sz="1200" smtClean="0"/>
              <a:pPr/>
              <a:t>7</a:t>
            </a:fld>
            <a:endParaRPr lang="en-IN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9875520" cy="42062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200" b="1">
                <a:solidFill>
                  <a:srgbClr val="123B5D"/>
                </a:solidFill>
                <a:latin typeface="Calibri"/>
              </a:rPr>
              <a:t>1.  High Grievance Volumes with Substantial Recurrence Rates: </a:t>
            </a:r>
            <a:r>
              <a:rPr sz="1200" b="0">
                <a:solidFill>
                  <a:srgbClr val="1E293B"/>
                </a:solidFill>
                <a:latin typeface="Calibri"/>
              </a:rPr>
              <a:t>Over 150,000+ civic grievances logged annually in Hyderabad (GHMC Grievance Portal Data), with over 35% concentrated in chronic geographic recurrence clusters.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200" b="1">
                <a:solidFill>
                  <a:srgbClr val="123B5D"/>
                </a:solidFill>
                <a:latin typeface="Calibri"/>
              </a:rPr>
              <a:t>2.  Severe Road Safety Toll &amp; Pothole Fatalities: </a:t>
            </a:r>
            <a:r>
              <a:rPr sz="1200" b="0">
                <a:solidFill>
                  <a:srgbClr val="1E293B"/>
                </a:solidFill>
                <a:latin typeface="Calibri"/>
              </a:rPr>
              <a:t>Ministry of Road Transport and Highways (MoRTH Report 2022-2023) documents over 4,400+ road fatalities and 10,000+ severe injuries in India directly caused by potholes and uneven pavements.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200" b="1">
                <a:solidFill>
                  <a:srgbClr val="123B5D"/>
                </a:solidFill>
                <a:latin typeface="Calibri"/>
              </a:rPr>
              <a:t>3.  Massive Economic Drain from Urban Traffic Latency: </a:t>
            </a:r>
            <a:r>
              <a:rPr sz="1200" b="0">
                <a:solidFill>
                  <a:srgbClr val="1E293B"/>
                </a:solidFill>
                <a:latin typeface="Calibri"/>
              </a:rPr>
              <a:t>Studies by the Indian Institute of Science (IISc) estimate that major Indian metropolitan areas lose over ₹25,000+ Crores annually in fuel wastage and lost productive hours due to waterlogged roads.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200" b="1">
                <a:solidFill>
                  <a:srgbClr val="123B5D"/>
                </a:solidFill>
                <a:latin typeface="Calibri"/>
              </a:rPr>
              <a:t>4.  CAG Audit Disclosures on Wasteful Re-Digging: </a:t>
            </a:r>
            <a:r>
              <a:rPr sz="1200" b="0">
                <a:solidFill>
                  <a:srgbClr val="1E293B"/>
                </a:solidFill>
                <a:latin typeface="Calibri"/>
              </a:rPr>
              <a:t>Comptroller and Auditor General (CAG) state audit reports disclose that newly carpeted municipal roads are excavated within 30-90 days by utility providers in over 40% of inspected wards.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200" b="1">
                <a:solidFill>
                  <a:srgbClr val="123B5D"/>
                </a:solidFill>
                <a:latin typeface="Calibri"/>
              </a:rPr>
              <a:t>5.  Premature Asphalt Pavement Failure Lifecycle: </a:t>
            </a:r>
            <a:r>
              <a:rPr sz="1200" b="0">
                <a:solidFill>
                  <a:srgbClr val="1E293B"/>
                </a:solidFill>
                <a:latin typeface="Calibri"/>
              </a:rPr>
              <a:t>Municipal road quality assessments reveal that cold-mix asphalt patches applied during monsoon moisture have an average field survival lifespan of under 14 days without sub-base drainage.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200" b="1">
                <a:solidFill>
                  <a:srgbClr val="123B5D"/>
                </a:solidFill>
                <a:latin typeface="Calibri"/>
              </a:rPr>
              <a:t>6.  Escalating Citizen Dissatisfaction &amp; Office Footfall: </a:t>
            </a:r>
            <a:r>
              <a:rPr sz="1200" b="0">
                <a:solidFill>
                  <a:srgbClr val="1E293B"/>
                </a:solidFill>
                <a:latin typeface="Calibri"/>
              </a:rPr>
              <a:t>Over 68% of citizens surveyed in municipal ward studies report visiting zonal offices in person due to uninformative portal tracking and arbitrary ticket closure.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200" b="1">
                <a:solidFill>
                  <a:srgbClr val="123B5D"/>
                </a:solidFill>
                <a:latin typeface="Calibri"/>
              </a:rPr>
              <a:t>7.  Extreme Climate Vulnerability &amp; Rainfall Surges: </a:t>
            </a:r>
            <a:r>
              <a:rPr sz="1200" b="0">
                <a:solidFill>
                  <a:srgbClr val="1E293B"/>
                </a:solidFill>
                <a:latin typeface="Calibri"/>
              </a:rPr>
              <a:t>Precipitation surges exceeding 40-60 mm/hour routinely overwhelm silted storm drains, converting minor blockages into catastrophic road cave-ins and severe urban flooding.</a:t>
            </a:r>
          </a:p>
        </p:txBody>
      </p:sp>
    </p:spTree>
    <p:extLst>
      <p:ext uri="{BB962C8B-B14F-4D97-AF65-F5344CB8AC3E}">
        <p14:creationId xmlns:p14="http://schemas.microsoft.com/office/powerpoint/2010/main" val="3791113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4CCEB-2B96-D77D-099F-5AEC19E7B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3566C6-2C26-AE40-5192-31FE18E3A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F4310-7428-4473-89E5-C0ECB7DEDFC2}" type="slidenum">
              <a:rPr lang="en-IN" smtClean="0"/>
              <a:t>8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7698F0-F4D9-81B3-15CC-98970C8407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F79E95-4B16-3D46-7383-9973B27E04D9}"/>
              </a:ext>
            </a:extLst>
          </p:cNvPr>
          <p:cNvSpPr txBox="1"/>
          <p:nvPr/>
        </p:nvSpPr>
        <p:spPr>
          <a:xfrm>
            <a:off x="1679196" y="833688"/>
            <a:ext cx="88336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300"/>
              </a:spcAft>
              <a:defRPr sz="2200" b="1">
                <a:solidFill>
                  <a:srgbClr val="123B5D"/>
                </a:solidFill>
                <a:latin typeface="Calibri"/>
              </a:defRPr>
            </a:pPr>
            <a:r>
              <a:t>Ideation &amp; Exploration: Systemic Leverage Points for Civic Transformation</a:t>
            </a:r>
          </a:p>
          <a:p>
            <a:pPr>
              <a:spcAft>
                <a:spcPts val="400"/>
              </a:spcAft>
              <a:defRPr sz="1300" b="1">
                <a:solidFill>
                  <a:srgbClr val="0F766E"/>
                </a:solidFill>
                <a:latin typeface="Calibri"/>
              </a:defRPr>
            </a:pPr>
            <a:r>
              <a:t>Applying Donella Meadows' Systems Thinking Framework to Municipal Governance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DA2EBD-167A-2AF3-DB6E-8B975C35F0AC}"/>
              </a:ext>
            </a:extLst>
          </p:cNvPr>
          <p:cNvSpPr txBox="1"/>
          <p:nvPr/>
        </p:nvSpPr>
        <p:spPr>
          <a:xfrm>
            <a:off x="11719420" y="6356350"/>
            <a:ext cx="3775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81EF4310-7428-4473-89E5-C0ECB7DEDFC2}" type="slidenum">
              <a:rPr lang="en-IN" sz="1200" smtClean="0"/>
              <a:pPr/>
              <a:t>8</a:t>
            </a:fld>
            <a:endParaRPr lang="en-IN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9875520" cy="42062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200" b="1">
                <a:solidFill>
                  <a:srgbClr val="123B5D"/>
                </a:solidFill>
                <a:latin typeface="Calibri"/>
              </a:rPr>
              <a:t>1.  Leverage Point #12 (Constants &amp; Parameters - Traditional / Weak): </a:t>
            </a:r>
            <a:r>
              <a:rPr sz="1200" b="0">
                <a:solidFill>
                  <a:srgbClr val="1E293B"/>
                </a:solidFill>
                <a:latin typeface="Calibri"/>
              </a:rPr>
              <a:t>Increasing the budget for manual cold-mix asphalt trucks and adding more complaint desk operators (low systemic impact; treats symptoms without changing structure).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200" b="1">
                <a:solidFill>
                  <a:srgbClr val="123B5D"/>
                </a:solidFill>
                <a:latin typeface="Calibri"/>
              </a:rPr>
              <a:t>2.  Leverage Point #8 (Negative Feedback Loops - High Impact): </a:t>
            </a:r>
            <a:r>
              <a:rPr sz="1200" b="0">
                <a:solidFill>
                  <a:srgbClr val="1E293B"/>
                </a:solidFill>
                <a:latin typeface="Calibri"/>
              </a:rPr>
              <a:t>Instituting a mandatory citizen verification loop where unconfirmed ticket closures automatically trigger escalation to Zonal Commissioners and reopen case files.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200" b="1">
                <a:solidFill>
                  <a:srgbClr val="123B5D"/>
                </a:solidFill>
                <a:latin typeface="Calibri"/>
              </a:rPr>
              <a:t>3.  Leverage Point #6 (Structure of Information Flows - Transformative): </a:t>
            </a:r>
            <a:r>
              <a:rPr sz="1200" b="0">
                <a:solidFill>
                  <a:srgbClr val="1E293B"/>
                </a:solidFill>
                <a:latin typeface="Calibri"/>
              </a:rPr>
              <a:t>Creating an open temporal knowledge graph that surfaces hidden causal links between storm drain siltation and recurring road degradation to all departments in real time.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200" b="1">
                <a:solidFill>
                  <a:srgbClr val="123B5D"/>
                </a:solidFill>
                <a:latin typeface="Calibri"/>
              </a:rPr>
              <a:t>4.  Leverage Point #5 (Rules of the System - Regulatory Intervention): </a:t>
            </a:r>
            <a:r>
              <a:rPr sz="1200" b="0">
                <a:solidFill>
                  <a:srgbClr val="1E293B"/>
                </a:solidFill>
                <a:latin typeface="Calibri"/>
              </a:rPr>
              <a:t>Mandating legally binding Multi-Agency Joint Work Orders (JWOs) that prohibit road repaving until underlying drainage desilting is formally verified and signed off.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200" b="1">
                <a:solidFill>
                  <a:srgbClr val="123B5D"/>
                </a:solidFill>
                <a:latin typeface="Calibri"/>
              </a:rPr>
              <a:t>5.  Leverage Point #4 (Self-Organization &amp; Predictive Evolution): </a:t>
            </a:r>
            <a:r>
              <a:rPr sz="1200" b="0">
                <a:solidFill>
                  <a:srgbClr val="1E293B"/>
                </a:solidFill>
                <a:latin typeface="Calibri"/>
              </a:rPr>
              <a:t>Equipping municipal engineers with a Digital Twin and Policy Simulator to test desilting intervals and dynamically adjust preventive maintenance schedules before monsoons.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200" b="1">
                <a:solidFill>
                  <a:srgbClr val="123B5D"/>
                </a:solidFill>
                <a:latin typeface="Calibri"/>
              </a:rPr>
              <a:t>6.  Universal Multimodal Citizen Interface: </a:t>
            </a:r>
            <a:r>
              <a:rPr sz="1200" b="0">
                <a:solidFill>
                  <a:srgbClr val="1E293B"/>
                </a:solidFill>
                <a:latin typeface="Calibri"/>
              </a:rPr>
              <a:t>Implementing vernacular voice input (Telugu, Hindi, English) and AI computer-vision photo audits to eliminate citizen cognitive load and ensure accurate spatial tagging.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200" b="1">
                <a:solidFill>
                  <a:srgbClr val="123B5D"/>
                </a:solidFill>
                <a:latin typeface="Calibri"/>
              </a:rPr>
              <a:t>7.  Decentralized Operational Command Desks: </a:t>
            </a:r>
            <a:r>
              <a:rPr sz="1200" b="0">
                <a:solidFill>
                  <a:srgbClr val="1E293B"/>
                </a:solidFill>
                <a:latin typeface="Calibri"/>
              </a:rPr>
              <a:t>Providing field officers with interactive queues displaying historical recurrence logs, multi-agency clearance buttons, and auditable stage tracking.</a:t>
            </a:r>
          </a:p>
        </p:txBody>
      </p:sp>
    </p:spTree>
    <p:extLst>
      <p:ext uri="{BB962C8B-B14F-4D97-AF65-F5344CB8AC3E}">
        <p14:creationId xmlns:p14="http://schemas.microsoft.com/office/powerpoint/2010/main" val="3050043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7BA38-C7E8-29B8-2384-ED75B1062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A450D3-4A38-0F1B-938F-27694C5F4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F4310-7428-4473-89E5-C0ECB7DEDFC2}" type="slidenum">
              <a:rPr lang="en-IN" smtClean="0"/>
              <a:t>9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982982-7CD2-CEDC-F2D0-CB3C8618F5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DC984AE-ADA7-9390-0279-0FA6173157D3}"/>
              </a:ext>
            </a:extLst>
          </p:cNvPr>
          <p:cNvSpPr txBox="1"/>
          <p:nvPr/>
        </p:nvSpPr>
        <p:spPr>
          <a:xfrm>
            <a:off x="1679196" y="845151"/>
            <a:ext cx="88336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300"/>
              </a:spcAft>
              <a:defRPr sz="2200" b="1">
                <a:solidFill>
                  <a:srgbClr val="123B5D"/>
                </a:solidFill>
                <a:latin typeface="Calibri"/>
              </a:defRPr>
            </a:pPr>
            <a:r>
              <a:t>Proposed Solution: CURE – City Unified Response &amp; Evolution Platform</a:t>
            </a:r>
          </a:p>
          <a:p>
            <a:pPr>
              <a:spcAft>
                <a:spcPts val="400"/>
              </a:spcAft>
              <a:defRPr sz="1300" b="1">
                <a:solidFill>
                  <a:srgbClr val="0F766E"/>
                </a:solidFill>
                <a:latin typeface="Calibri"/>
              </a:defRPr>
            </a:pPr>
            <a:r>
              <a:t>An AI-Assisted Civic Decision-Support Prototype Connecting Citizens and Municipalities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7A0634-8613-2AA9-F413-9E76D3E68C6B}"/>
              </a:ext>
            </a:extLst>
          </p:cNvPr>
          <p:cNvSpPr txBox="1"/>
          <p:nvPr/>
        </p:nvSpPr>
        <p:spPr>
          <a:xfrm>
            <a:off x="11763462" y="6400412"/>
            <a:ext cx="3082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81EF4310-7428-4473-89E5-C0ECB7DEDFC2}" type="slidenum">
              <a:rPr lang="en-IN" sz="1200" smtClean="0"/>
              <a:pPr/>
              <a:t>9</a:t>
            </a:fld>
            <a:endParaRPr lang="en-IN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9875520" cy="42062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200" b="1">
                <a:solidFill>
                  <a:srgbClr val="123B5D"/>
                </a:solidFill>
                <a:latin typeface="Calibri"/>
              </a:rPr>
              <a:t>1.  Core Product Vision: Simplicity for Citizens, Intelligence for Government: </a:t>
            </a:r>
            <a:r>
              <a:rPr sz="1200" b="0">
                <a:solidFill>
                  <a:srgbClr val="1E293B"/>
                </a:solidFill>
                <a:latin typeface="Calibri"/>
              </a:rPr>
              <a:t>Citizens get a friction-free 30-second reporting experience; government gets a deep systems-thinking decision-support suite underneath.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200" b="1">
                <a:solidFill>
                  <a:srgbClr val="123B5D"/>
                </a:solidFill>
                <a:latin typeface="Calibri"/>
              </a:rPr>
              <a:t>2.  Human-Centric Multimodal Intake (4-Step Wizard): </a:t>
            </a:r>
            <a:r>
              <a:rPr sz="1200" b="0">
                <a:solidFill>
                  <a:srgbClr val="1E293B"/>
                </a:solidFill>
                <a:latin typeface="Calibri"/>
              </a:rPr>
              <a:t>Citizens describe issues naturally via voice (Telugu/Hindi/English), text, or photo; CURE automatically extracts metadata and maps to 12 natural civic categories.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200" b="1">
                <a:solidFill>
                  <a:srgbClr val="123B5D"/>
                </a:solidFill>
                <a:latin typeface="Calibri"/>
              </a:rPr>
              <a:t>3.  The 'Office Visit Eliminator' Promise: </a:t>
            </a:r>
            <a:r>
              <a:rPr sz="1200" b="0">
                <a:solidFill>
                  <a:srgbClr val="1E293B"/>
                </a:solidFill>
                <a:latin typeface="Calibri"/>
              </a:rPr>
              <a:t>Guarantees that citizens never need to visit a municipal office by delivering real-time field progress logs, inspection photos, and transparent delay reasons.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200" b="1">
                <a:solidFill>
                  <a:srgbClr val="123B5D"/>
                </a:solidFill>
                <a:latin typeface="Calibri"/>
              </a:rPr>
              <a:t>4.  Field Officer Work Desk with Auditable Lifecycles: </a:t>
            </a:r>
            <a:r>
              <a:rPr sz="1200" b="0">
                <a:solidFill>
                  <a:srgbClr val="1E293B"/>
                </a:solidFill>
                <a:latin typeface="Calibri"/>
              </a:rPr>
              <a:t>Equips engineers with structured work queues and a 6-stage lifecycle (Received -&gt; Assigned -&gt; Inspection -&gt; Action -&gt; Verification -&gt; Closed) with clear accountability.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200" b="1">
                <a:solidFill>
                  <a:srgbClr val="123B5D"/>
                </a:solidFill>
                <a:latin typeface="Calibri"/>
              </a:rPr>
              <a:t>5.  Closed-Loop Citizen Verification &amp; Recurrence Detection: </a:t>
            </a:r>
            <a:r>
              <a:rPr sz="1200" b="0">
                <a:solidFill>
                  <a:srgbClr val="1E293B"/>
                </a:solidFill>
                <a:latin typeface="Calibri"/>
              </a:rPr>
              <a:t>Empowers the citizen to verify repair efficacy ('Yes, fixed' vs 'No, still exists'); negative feedback reopens the ticket and flags spatial recurrence clusters.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200" b="1">
                <a:solidFill>
                  <a:srgbClr val="123B5D"/>
                </a:solidFill>
                <a:latin typeface="Calibri"/>
              </a:rPr>
              <a:t>6.  Root Cause Engine &amp; Tri-Partite Evidence Architecture: </a:t>
            </a:r>
            <a:r>
              <a:rPr sz="1200" b="0">
                <a:solidFill>
                  <a:srgbClr val="1E293B"/>
                </a:solidFill>
                <a:latin typeface="Calibri"/>
              </a:rPr>
              <a:t>Explicitly separates OBSERVED field telemetry, ANALYSIS correlation, and HYPOTHESIS requiring field inspection—ensuring defensible governance intelligence.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200" b="1">
                <a:solidFill>
                  <a:srgbClr val="123B5D"/>
                </a:solidFill>
                <a:latin typeface="Calibri"/>
              </a:rPr>
              <a:t>7.  Multi-Agency Joint Work Orders (CURE-JWO): </a:t>
            </a:r>
            <a:r>
              <a:rPr sz="1200" b="0">
                <a:solidFill>
                  <a:srgbClr val="1E293B"/>
                </a:solidFill>
                <a:latin typeface="Calibri"/>
              </a:rPr>
              <a:t>Coordinates HMWS&amp;SB (drainage desilting), GHMC Roads (polymer repaving), and Traffic Police (diversion) under a unified legal dispatch to halt repeat excavations.</a:t>
            </a:r>
          </a:p>
        </p:txBody>
      </p:sp>
    </p:spTree>
    <p:extLst>
      <p:ext uri="{BB962C8B-B14F-4D97-AF65-F5344CB8AC3E}">
        <p14:creationId xmlns:p14="http://schemas.microsoft.com/office/powerpoint/2010/main" val="2319780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B58C6-9520-3510-EC97-9EDFB3B9E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2A792B-BD88-5E17-E3B1-F5CC928E3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F4310-7428-4473-89E5-C0ECB7DEDFC2}" type="slidenum">
              <a:rPr lang="en-IN" smtClean="0"/>
              <a:t>10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DAFB89-F005-C2C0-78DD-97FDFCBA29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53D0EE-11A2-AE5A-39F3-798419C9E28B}"/>
              </a:ext>
            </a:extLst>
          </p:cNvPr>
          <p:cNvSpPr txBox="1"/>
          <p:nvPr/>
        </p:nvSpPr>
        <p:spPr>
          <a:xfrm>
            <a:off x="11763462" y="6400412"/>
            <a:ext cx="3082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81EF4310-7428-4473-89E5-C0ECB7DEDFC2}" type="slidenum">
              <a:rPr lang="en-IN" sz="1200" smtClean="0"/>
              <a:pPr/>
              <a:t>10</a:t>
            </a:fld>
            <a:endParaRPr lang="en-IN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4B12A9-FDED-ACEC-8338-C826902F0B16}"/>
              </a:ext>
            </a:extLst>
          </p:cNvPr>
          <p:cNvSpPr txBox="1"/>
          <p:nvPr/>
        </p:nvSpPr>
        <p:spPr>
          <a:xfrm>
            <a:off x="3013450" y="696207"/>
            <a:ext cx="61651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2200" b="1">
                <a:solidFill>
                  <a:srgbClr val="123B5D"/>
                </a:solidFill>
                <a:latin typeface="Calibri"/>
              </a:defRPr>
            </a:pPr>
            <a:r>
              <a:t>New System Architecture: Technical Design &amp; Closed-Loop Implementation</a:t>
            </a:r>
            <a:endParaRPr lang="en-IN" dirty="0"/>
          </a:p>
          <a:p>
            <a:pPr>
              <a:spcAft>
                <a:spcPts val="400"/>
              </a:spcAft>
              <a:defRPr sz="1300" b="1">
                <a:solidFill>
                  <a:srgbClr val="0F766E"/>
                </a:solidFill>
                <a:latin typeface="Calibri"/>
              </a:defRPr>
            </a:pPr>
            <a:r>
              <a:t>End-to-End Implementation Across 4 Connected Workspaces (v6.1 Production Prototype)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9875520" cy="42062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200" b="1">
                <a:solidFill>
                  <a:srgbClr val="123B5D"/>
                </a:solidFill>
                <a:latin typeface="Calibri"/>
              </a:rPr>
              <a:t>1.  Tier 1: Citizen Intelligence Gateway: </a:t>
            </a:r>
            <a:r>
              <a:rPr sz="1200" b="0">
                <a:solidFill>
                  <a:srgbClr val="1E293B"/>
                </a:solidFill>
                <a:latin typeface="Calibri"/>
              </a:rPr>
              <a:t>Responsive web client featuring 12 natural problem categories, speech transcription (Web Speech API), simulated CV defect detection, and receipt generation.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200" b="1">
                <a:solidFill>
                  <a:srgbClr val="123B5D"/>
                </a:solidFill>
                <a:latin typeface="Calibri"/>
              </a:rPr>
              <a:t>2.  Tier 2: Unified State &amp; Routing Controller (Shared CURE State): </a:t>
            </a:r>
            <a:r>
              <a:rPr sz="1200" b="0">
                <a:solidFill>
                  <a:srgbClr val="1E293B"/>
                </a:solidFill>
                <a:latin typeface="Calibri"/>
              </a:rPr>
              <a:t>Centralized state engine managing active tickets, stage lifecycles, recurrence flags, and cross-portal event propagation between citizen and government views.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200" b="1">
                <a:solidFill>
                  <a:srgbClr val="123B5D"/>
                </a:solidFill>
                <a:latin typeface="Calibri"/>
              </a:rPr>
              <a:t>3.  Tier 3: Ward 45 Field Officer Operational Work Desk: </a:t>
            </a:r>
            <a:r>
              <a:rPr sz="1200" b="0">
                <a:solidFill>
                  <a:srgbClr val="1E293B"/>
                </a:solidFill>
                <a:latin typeface="Calibri"/>
              </a:rPr>
              <a:t>Priority-ranked work queue (High/Medium/Low), historical coordinate clusters (12 complaints in 60 days), and multi-agency clearance toggles with audit logs.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200" b="1">
                <a:solidFill>
                  <a:srgbClr val="123B5D"/>
                </a:solidFill>
                <a:latin typeface="Calibri"/>
              </a:rPr>
              <a:t>4.  Tier 4: Root Cause Engine &amp; Diagnostic Drawer: </a:t>
            </a:r>
            <a:r>
              <a:rPr sz="1200" b="0">
                <a:solidFill>
                  <a:srgbClr val="1E293B"/>
                </a:solidFill>
                <a:latin typeface="Calibri"/>
              </a:rPr>
              <a:t>Interactive causal visual chain with clickable nodes providing structured evidence logs (Observed field data -&gt; Analysis -&gt; Hypothesis -&gt; Validation required).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200" b="1">
                <a:solidFill>
                  <a:srgbClr val="123B5D"/>
                </a:solidFill>
                <a:latin typeface="Calibri"/>
              </a:rPr>
              <a:t>5.  Tier 5: Interactive Temporal Knowledge Graph: </a:t>
            </a:r>
            <a:r>
              <a:rPr sz="1200" b="0">
                <a:solidFill>
                  <a:srgbClr val="1E293B"/>
                </a:solidFill>
                <a:latin typeface="Calibri"/>
              </a:rPr>
              <a:t>8 interconnected topological nodes (Weather -&gt; Drainage -&gt; Waterlogging -&gt; Maintenance -&gt; Road -&gt; Complaint -&gt; Pothole -&gt; Citizen) rendering dynamic dependency trees.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200" b="1">
                <a:solidFill>
                  <a:srgbClr val="123B5D"/>
                </a:solidFill>
                <a:latin typeface="Calibri"/>
              </a:rPr>
              <a:t>6.  Tier 6: Ward 45 Digital Twin &amp; Asset Telemetry: </a:t>
            </a:r>
            <a:r>
              <a:rPr sz="1200" b="0">
                <a:solidFill>
                  <a:srgbClr val="1E293B"/>
                </a:solidFill>
                <a:latin typeface="Calibri"/>
              </a:rPr>
              <a:t>Living asset model for Drain D-104, Road R-36, and Streetlight SL-12 displaying operational statuses, complaint histories, and past maintenance inspection records.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200" b="1">
                <a:solidFill>
                  <a:srgbClr val="123B5D"/>
                </a:solidFill>
                <a:latin typeface="Calibri"/>
              </a:rPr>
              <a:t>7.  Tier 7: Policy Simulator Sandbox &amp; Closed-Loop JWO Generator: </a:t>
            </a:r>
            <a:r>
              <a:rPr sz="1200" b="0">
                <a:solidFill>
                  <a:srgbClr val="1E293B"/>
                </a:solidFill>
                <a:latin typeface="Calibri"/>
              </a:rPr>
              <a:t>Interactive mathematical parameter simulator projecting maintenance cost vs flood risk tradeoffs, paired with automated multi-agency Joint Work Order dispatch.</a:t>
            </a:r>
          </a:p>
        </p:txBody>
      </p:sp>
    </p:spTree>
    <p:extLst>
      <p:ext uri="{BB962C8B-B14F-4D97-AF65-F5344CB8AC3E}">
        <p14:creationId xmlns:p14="http://schemas.microsoft.com/office/powerpoint/2010/main" val="2083873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C0989-6867-E47F-A0ED-0AEE78B8B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DBC158-F5CB-6C6A-7330-CA4A65EA8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F4310-7428-4473-89E5-C0ECB7DEDFC2}" type="slidenum">
              <a:rPr lang="en-IN" smtClean="0"/>
              <a:t>11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7E2764-1CA4-C406-A54F-189D6D45C6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C8C123-043B-2ED3-84F6-17991469FBE4}"/>
              </a:ext>
            </a:extLst>
          </p:cNvPr>
          <p:cNvSpPr txBox="1"/>
          <p:nvPr/>
        </p:nvSpPr>
        <p:spPr>
          <a:xfrm>
            <a:off x="1400960" y="914400"/>
            <a:ext cx="88336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300"/>
              </a:spcAft>
              <a:defRPr sz="2200" b="1">
                <a:solidFill>
                  <a:srgbClr val="123B5D"/>
                </a:solidFill>
                <a:latin typeface="Calibri"/>
              </a:defRPr>
            </a:pPr>
            <a:r>
              <a:t>Implementation Challenges: Technical, Operational &amp; Institutional Roadblocks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  <a:defRPr sz="1300" b="1">
                <a:solidFill>
                  <a:srgbClr val="0F766E"/>
                </a:solidFill>
                <a:latin typeface="Calibri"/>
              </a:defRPr>
            </a:pPr>
            <a:r>
              <a:t>Analyzing Real-World Friction in Municipal System Deployment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76ED96-2B71-049C-D7BF-124AF6D5AD5D}"/>
              </a:ext>
            </a:extLst>
          </p:cNvPr>
          <p:cNvSpPr txBox="1"/>
          <p:nvPr/>
        </p:nvSpPr>
        <p:spPr>
          <a:xfrm>
            <a:off x="11763462" y="6400412"/>
            <a:ext cx="4285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81EF4310-7428-4473-89E5-C0ECB7DEDFC2}" type="slidenum">
              <a:rPr lang="en-IN" sz="1200" smtClean="0"/>
              <a:pPr/>
              <a:t>11</a:t>
            </a:fld>
            <a:endParaRPr lang="en-IN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9875520" cy="42062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200" b="1">
                <a:solidFill>
                  <a:srgbClr val="123B5D"/>
                </a:solidFill>
                <a:latin typeface="Calibri"/>
              </a:rPr>
              <a:t>1.  Inter-Agency Data Silos &amp; Proprietary Formats: </a:t>
            </a:r>
            <a:r>
              <a:rPr sz="1200" b="0">
                <a:solidFill>
                  <a:srgbClr val="1E293B"/>
                </a:solidFill>
                <a:latin typeface="Calibri"/>
              </a:rPr>
              <a:t>Municipal departments utilize legacy databases and disconnected ERPs lacking standardized APIs, creating severe hurdles for real-time bidirectional data exchange.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200" b="1">
                <a:solidFill>
                  <a:srgbClr val="123B5D"/>
                </a:solidFill>
                <a:latin typeface="Calibri"/>
              </a:rPr>
              <a:t>2.  Noisy Multimodal Submissions &amp; Dialect Variability: </a:t>
            </a:r>
            <a:r>
              <a:rPr sz="1200" b="0">
                <a:solidFill>
                  <a:srgbClr val="1E293B"/>
                </a:solidFill>
                <a:latin typeface="Calibri"/>
              </a:rPr>
              <a:t>Handling low-quality citizen photos (poor lighting, occlusions) and regional dialect variations in spoken Telugu/Hindi during automated feature extraction.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200" b="1">
                <a:solidFill>
                  <a:srgbClr val="123B5D"/>
                </a:solidFill>
                <a:latin typeface="Calibri"/>
              </a:rPr>
              <a:t>3.  Urban Canyon GPS Drift &amp; Geotag Inaccuracies: </a:t>
            </a:r>
            <a:r>
              <a:rPr sz="1200" b="0">
                <a:solidFill>
                  <a:srgbClr val="1E293B"/>
                </a:solidFill>
                <a:latin typeface="Calibri"/>
              </a:rPr>
              <a:t>High-rise structures and dense overhead foliage cause GPS multipath errors, complicating sub-meter spatial clustering of infrastructure assets.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200" b="1">
                <a:solidFill>
                  <a:srgbClr val="123B5D"/>
                </a:solidFill>
                <a:latin typeface="Calibri"/>
              </a:rPr>
              <a:t>4.  Institutional Inertia &amp; Siloed Bureaucratic Resistance: </a:t>
            </a:r>
            <a:r>
              <a:rPr sz="1200" b="0">
                <a:solidFill>
                  <a:srgbClr val="1E293B"/>
                </a:solidFill>
                <a:latin typeface="Calibri"/>
              </a:rPr>
              <a:t>Departmental engineers and supervisors often resist shared accountability protocols under Joint Work Orders, preferring isolated line-item responsibility.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200" b="1">
                <a:solidFill>
                  <a:srgbClr val="123B5D"/>
                </a:solidFill>
                <a:latin typeface="Calibri"/>
              </a:rPr>
              <a:t>5.  Field Hardware &amp; Mobile Connectivity Limitations: </a:t>
            </a:r>
            <a:r>
              <a:rPr sz="1200" b="0">
                <a:solidFill>
                  <a:srgbClr val="1E293B"/>
                </a:solidFill>
                <a:latin typeface="Calibri"/>
              </a:rPr>
              <a:t>Field crews operate under harsh outdoor environments with entry-level smartphones and intermittent 4G/5G mobile network coverage in utility trenches.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200" b="1">
                <a:solidFill>
                  <a:srgbClr val="123B5D"/>
                </a:solidFill>
                <a:latin typeface="Calibri"/>
              </a:rPr>
              <a:t>6.  False Submissions, Spam &amp; Geotag Spoofing Risks: </a:t>
            </a:r>
            <a:r>
              <a:rPr sz="1200" b="0">
                <a:solidFill>
                  <a:srgbClr val="1E293B"/>
                </a:solidFill>
                <a:latin typeface="Calibri"/>
              </a:rPr>
              <a:t>Preventing automated spam, malicious duplicate filings, and artificial complaint clustering while maintaining low barrier-to-entry for genuine citizens.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200" b="1">
                <a:solidFill>
                  <a:srgbClr val="123B5D"/>
                </a:solidFill>
                <a:latin typeface="Calibri"/>
              </a:rPr>
              <a:t>7.  Telemetry Validation &amp; Ground-Truthing Gaps: </a:t>
            </a:r>
            <a:r>
              <a:rPr sz="1200" b="0">
                <a:solidFill>
                  <a:srgbClr val="1E293B"/>
                </a:solidFill>
                <a:latin typeface="Calibri"/>
              </a:rPr>
              <a:t>Calibrating prototype simulation parameters against real-world hydraulic pipe flows, subgrade soil moisture saturation, and asphalt tensile limits.</a:t>
            </a:r>
          </a:p>
        </p:txBody>
      </p:sp>
    </p:spTree>
    <p:extLst>
      <p:ext uri="{BB962C8B-B14F-4D97-AF65-F5344CB8AC3E}">
        <p14:creationId xmlns:p14="http://schemas.microsoft.com/office/powerpoint/2010/main" val="1869693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C0989-6867-E47F-A0ED-0AEE78B8B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DBC158-F5CB-6C6A-7330-CA4A65EA8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F4310-7428-4473-89E5-C0ECB7DEDFC2}" type="slidenum">
              <a:rPr lang="en-IN" smtClean="0"/>
              <a:t>12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7E2764-1CA4-C406-A54F-189D6D45C6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76ED96-2B71-049C-D7BF-124AF6D5AD5D}"/>
              </a:ext>
            </a:extLst>
          </p:cNvPr>
          <p:cNvSpPr txBox="1"/>
          <p:nvPr/>
        </p:nvSpPr>
        <p:spPr>
          <a:xfrm>
            <a:off x="11763462" y="6400412"/>
            <a:ext cx="42853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81EF4310-7428-4473-89E5-C0ECB7DEDFC2}" type="slidenum">
              <a:rPr lang="en-IN" sz="1200" smtClean="0"/>
              <a:pPr/>
              <a:t>12</a:t>
            </a:fld>
            <a:endParaRPr lang="en-IN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433DFA-188C-57E0-60A9-12C9BEC19E87}"/>
              </a:ext>
            </a:extLst>
          </p:cNvPr>
          <p:cNvSpPr txBox="1"/>
          <p:nvPr/>
        </p:nvSpPr>
        <p:spPr>
          <a:xfrm>
            <a:off x="3013450" y="914400"/>
            <a:ext cx="61651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2200" b="1">
                <a:solidFill>
                  <a:srgbClr val="123B5D"/>
                </a:solidFill>
                <a:latin typeface="Calibri"/>
              </a:defRPr>
            </a:pPr>
            <a:r>
              <a:t>Scope of Improvement: Knowledge Gaps, Risk Mitigation &amp; Strategic Roadmap</a:t>
            </a:r>
            <a:endParaRPr lang="en-IN" dirty="0"/>
          </a:p>
          <a:p>
            <a:pPr>
              <a:spcAft>
                <a:spcPts val="400"/>
              </a:spcAft>
              <a:defRPr sz="1300" b="1">
                <a:solidFill>
                  <a:srgbClr val="0F766E"/>
                </a:solidFill>
                <a:latin typeface="Calibri"/>
              </a:defRPr>
            </a:pPr>
            <a:r>
              <a:t>Future Horizons for Institutionalizing CURE in Urban Administrations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20240"/>
            <a:ext cx="9875520" cy="42062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200" b="1">
                <a:solidFill>
                  <a:srgbClr val="123B5D"/>
                </a:solidFill>
                <a:latin typeface="Calibri"/>
              </a:rPr>
              <a:t>1.  Integration with India Urban Data Exchange (IUDX): </a:t>
            </a:r>
            <a:r>
              <a:rPr sz="1200" b="0">
                <a:solidFill>
                  <a:srgbClr val="1E293B"/>
                </a:solidFill>
                <a:latin typeface="Calibri"/>
              </a:rPr>
              <a:t>Adopting standardized national civic data protocols to establish secure, interoperable data sharing pipelines across electricity, water, and road utilities.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200" b="1">
                <a:solidFill>
                  <a:srgbClr val="123B5D"/>
                </a:solidFill>
                <a:latin typeface="Calibri"/>
              </a:rPr>
              <a:t>2.  Fine-Tuning Localized Multilingual Acoustic Models: </a:t>
            </a:r>
            <a:r>
              <a:rPr sz="1200" b="0">
                <a:solidFill>
                  <a:srgbClr val="1E293B"/>
                </a:solidFill>
                <a:latin typeface="Calibri"/>
              </a:rPr>
              <a:t>Training specialized edge-AI speech models on localized civic terminology, regional Hyderabadi Telugu idioms, and street-level landmarks.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200" b="1">
                <a:solidFill>
                  <a:srgbClr val="123B5D"/>
                </a:solidFill>
                <a:latin typeface="Calibri"/>
              </a:rPr>
              <a:t>3.  IoT Ultrasonic Silt &amp; Water-Level Sensor Mesh: </a:t>
            </a:r>
            <a:r>
              <a:rPr sz="1200" b="0">
                <a:solidFill>
                  <a:srgbClr val="1E293B"/>
                </a:solidFill>
                <a:latin typeface="Calibri"/>
              </a:rPr>
              <a:t>Deploying low-cost ultrasonic IoT depth sensors inside critical stormwater drains to provide real-time hydraulic telemetry directly to the Digital Twin.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200" b="1">
                <a:solidFill>
                  <a:srgbClr val="123B5D"/>
                </a:solidFill>
                <a:latin typeface="Calibri"/>
              </a:rPr>
              <a:t>4.  Automated Photogrammetry via Municipal Transit Fleets: </a:t>
            </a:r>
            <a:r>
              <a:rPr sz="1200" b="0">
                <a:solidFill>
                  <a:srgbClr val="1E293B"/>
                </a:solidFill>
                <a:latin typeface="Calibri"/>
              </a:rPr>
              <a:t>Mounting high-resolution camera rigs on municipal buses and sanitation trucks to continuously scan road surfaces and detect early micro-cracking.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200" b="1">
                <a:solidFill>
                  <a:srgbClr val="123B5D"/>
                </a:solidFill>
                <a:latin typeface="Calibri"/>
              </a:rPr>
              <a:t>5.  Administrative Bylaws for Joint Work Order Enforcement: </a:t>
            </a:r>
            <a:r>
              <a:rPr sz="1200" b="0">
                <a:solidFill>
                  <a:srgbClr val="1E293B"/>
                </a:solidFill>
                <a:latin typeface="Calibri"/>
              </a:rPr>
              <a:t>Establishing municipal statutory regulations that legally mandate joint inter-agency sign-offs before work orders can be closed or contractor payments released.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200" b="1">
                <a:solidFill>
                  <a:srgbClr val="123B5D"/>
                </a:solidFill>
                <a:latin typeface="Calibri"/>
              </a:rPr>
              <a:t>6.  Climate Adaptation Modeling &amp; Radar Integration: </a:t>
            </a:r>
            <a:r>
              <a:rPr sz="1200" b="0">
                <a:solidFill>
                  <a:srgbClr val="1E293B"/>
                </a:solidFill>
                <a:latin typeface="Calibri"/>
              </a:rPr>
              <a:t>Integrating Doppler weather radar feeds and satellite soil moisture maps into the Policy Simulator to model extreme precipitation shock events.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200" b="1">
                <a:solidFill>
                  <a:srgbClr val="123B5D"/>
                </a:solidFill>
                <a:latin typeface="Calibri"/>
              </a:rPr>
              <a:t>7.  Citizen Incentive Engineering &amp; Community Badging: </a:t>
            </a:r>
            <a:r>
              <a:rPr sz="1200" b="0">
                <a:solidFill>
                  <a:srgbClr val="1E293B"/>
                </a:solidFill>
                <a:latin typeface="Calibri"/>
              </a:rPr>
              <a:t>Developing verified community impact dashboards and civic recognition badges to sustain active citizen participation in the verification loop.</a:t>
            </a:r>
          </a:p>
        </p:txBody>
      </p:sp>
    </p:spTree>
    <p:extLst>
      <p:ext uri="{BB962C8B-B14F-4D97-AF65-F5344CB8AC3E}">
        <p14:creationId xmlns:p14="http://schemas.microsoft.com/office/powerpoint/2010/main" val="1566334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C7E16-9CD2-024A-2648-DBD41F4CE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00EF16-ACA3-8FEC-CEAA-AF583C91D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F4310-7428-4473-89E5-C0ECB7DEDFC2}" type="slidenum">
              <a:rPr lang="en-IN" smtClean="0"/>
              <a:t>13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6F9D41-941F-C578-5746-859791F388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9FB695-63A5-C6FA-EDDA-B448061FD64A}"/>
              </a:ext>
            </a:extLst>
          </p:cNvPr>
          <p:cNvSpPr txBox="1"/>
          <p:nvPr/>
        </p:nvSpPr>
        <p:spPr>
          <a:xfrm>
            <a:off x="1776548" y="811561"/>
            <a:ext cx="863890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300"/>
              </a:spcAft>
              <a:defRPr sz="2200" b="1">
                <a:solidFill>
                  <a:srgbClr val="123B5D"/>
                </a:solidFill>
                <a:latin typeface="Calibri"/>
              </a:defRPr>
            </a:pPr>
            <a:r>
              <a:t>Authoritative References, Academic Literature &amp; Official Guidelines</a:t>
            </a:r>
          </a:p>
          <a:p>
            <a:pPr>
              <a:spcAft>
                <a:spcPts val="400"/>
              </a:spcAft>
              <a:defRPr sz="1300" b="1">
                <a:solidFill>
                  <a:srgbClr val="0F766E"/>
                </a:solidFill>
                <a:latin typeface="Calibri"/>
              </a:defRPr>
            </a:pPr>
            <a:r>
              <a:t>Foundational Sources, Research Papers &amp; Municipal Charters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B47FB7-C31D-CE7F-FEC7-EFA7A6F8DC52}"/>
              </a:ext>
            </a:extLst>
          </p:cNvPr>
          <p:cNvSpPr txBox="1"/>
          <p:nvPr/>
        </p:nvSpPr>
        <p:spPr>
          <a:xfrm>
            <a:off x="11721517" y="6444476"/>
            <a:ext cx="3586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81EF4310-7428-4473-89E5-C0ECB7DEDFC2}" type="slidenum">
              <a:rPr lang="en-IN" sz="1200" smtClean="0"/>
              <a:pPr/>
              <a:t>13</a:t>
            </a:fld>
            <a:endParaRPr lang="en-IN" sz="1200" dirty="0"/>
          </a:p>
        </p:txBody>
      </p:sp>
      <p:sp>
        <p:nvSpPr>
          <p:cNvPr id="8" name="TextBox 7"/>
          <p:cNvSpPr txBox="1"/>
          <p:nvPr/>
        </p:nvSpPr>
        <p:spPr>
          <a:xfrm>
            <a:off x="1097280" y="1920240"/>
            <a:ext cx="9875520" cy="42062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180" b="1">
                <a:solidFill>
                  <a:srgbClr val="123B5D"/>
                </a:solidFill>
                <a:latin typeface="Calibri"/>
              </a:rPr>
              <a:t>1.  Meadows, Donella H. (2008): </a:t>
            </a:r>
            <a:r>
              <a:rPr sz="1180" b="0">
                <a:solidFill>
                  <a:srgbClr val="1E293B"/>
                </a:solidFill>
                <a:latin typeface="Calibri"/>
              </a:rPr>
              <a:t>'Thinking in Systems: A Primer', Chelsea Green Publishing — Theoretical foundation for system boundaries, reinforcing/balancing feedback loops, and leverage points.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180" b="1">
                <a:solidFill>
                  <a:srgbClr val="123B5D"/>
                </a:solidFill>
                <a:latin typeface="Calibri"/>
              </a:rPr>
              <a:t>2.  Ministry of Housing and Urban Affairs (MoHUA, 2021): </a:t>
            </a:r>
            <a:r>
              <a:rPr sz="1180" b="0">
                <a:solidFill>
                  <a:srgbClr val="1E293B"/>
                </a:solidFill>
                <a:latin typeface="Calibri"/>
              </a:rPr>
              <a:t>'Smart Cities Mission: Open Data Guidelines &amp; Service Level Benchmarks for Urban Infrastructure', Government of India — Standards for civic grievance redressal.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180" b="1">
                <a:solidFill>
                  <a:srgbClr val="123B5D"/>
                </a:solidFill>
                <a:latin typeface="Calibri"/>
              </a:rPr>
              <a:t>3.  Greater Hyderabad Municipal Corporation (GHMC, 2023): </a:t>
            </a:r>
            <a:r>
              <a:rPr sz="1180" b="0">
                <a:solidFill>
                  <a:srgbClr val="1E293B"/>
                </a:solidFill>
                <a:latin typeface="Calibri"/>
              </a:rPr>
              <a:t>'Citizen Charter &amp; Engineering Wing Standard Operating Procedures (SOPs) for Road Maintenance &amp; Desilting', Hyderabad — Administrative timeline benchmarks.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180" b="1">
                <a:solidFill>
                  <a:srgbClr val="123B5D"/>
                </a:solidFill>
                <a:latin typeface="Calibri"/>
              </a:rPr>
              <a:t>4.  Ministry of Road Transport and Highways (MoRTH, 2022-2023): </a:t>
            </a:r>
            <a:r>
              <a:rPr sz="1180" b="0">
                <a:solidFill>
                  <a:srgbClr val="1E293B"/>
                </a:solidFill>
                <a:latin typeface="Calibri"/>
              </a:rPr>
              <a:t>'Road Accidents in India Annual Analytical Report', Transport Research Wing, New Delhi — Empirical evidence on road defect fatalities.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180" b="1">
                <a:solidFill>
                  <a:srgbClr val="123B5D"/>
                </a:solidFill>
                <a:latin typeface="Calibri"/>
              </a:rPr>
              <a:t>5.  Hyderabad Metropolitan Water Supply and Sewerage Board (HMWS&amp;SB, 2023): </a:t>
            </a:r>
            <a:r>
              <a:rPr sz="1180" b="0">
                <a:solidFill>
                  <a:srgbClr val="1E293B"/>
                </a:solidFill>
                <a:latin typeface="Calibri"/>
              </a:rPr>
              <a:t>'Comprehensive Storm Water Drainage Master Plan &amp; Pipeline Trenching Guidelines for Hyderabad Urban Area' — Drainage network specifications.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180" b="1">
                <a:solidFill>
                  <a:srgbClr val="123B5D"/>
                </a:solidFill>
                <a:latin typeface="Calibri"/>
              </a:rPr>
              <a:t>6.  India Urban Data Exchange (IUDX, 2022): </a:t>
            </a:r>
            <a:r>
              <a:rPr sz="1180" b="0">
                <a:solidFill>
                  <a:srgbClr val="1E293B"/>
                </a:solidFill>
                <a:latin typeface="Calibri"/>
              </a:rPr>
              <a:t>'Architecture Specification for Interoperable Smart City Platforms', Indian Institute of Science (IISc) &amp; MoHUA — Technical protocols for multi-agency data pipelines.</a:t>
            </a:r>
          </a:p>
          <a:p>
            <a:pPr>
              <a:lnSpc>
                <a:spcPct val="115000"/>
              </a:lnSpc>
              <a:spcAft>
                <a:spcPts val="550"/>
              </a:spcAft>
            </a:pPr>
            <a:r>
              <a:rPr sz="1180" b="1">
                <a:solidFill>
                  <a:srgbClr val="123B5D"/>
                </a:solidFill>
                <a:latin typeface="Calibri"/>
              </a:rPr>
              <a:t>7.  Comptroller and Auditor General of India (CAG, 2021): </a:t>
            </a:r>
            <a:r>
              <a:rPr sz="1180" b="0">
                <a:solidFill>
                  <a:srgbClr val="1E293B"/>
                </a:solidFill>
                <a:latin typeface="Calibri"/>
              </a:rPr>
              <a:t>'State Audit Report on Implementation of Urban Infrastructure Projects in Municipal Corporations' — Empirical data on wasteful utility trenching cycles.</a:t>
            </a:r>
          </a:p>
        </p:txBody>
      </p:sp>
    </p:spTree>
    <p:extLst>
      <p:ext uri="{BB962C8B-B14F-4D97-AF65-F5344CB8AC3E}">
        <p14:creationId xmlns:p14="http://schemas.microsoft.com/office/powerpoint/2010/main" val="2835710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3496</TotalTime>
  <Words>3381</Words>
  <Application>Microsoft Office PowerPoint</Application>
  <PresentationFormat>Widescreen</PresentationFormat>
  <Paragraphs>161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Varshith Reddy</dc:creator>
  <cp:lastModifiedBy>Geedula Akshaya</cp:lastModifiedBy>
  <cp:revision>4</cp:revision>
  <dcterms:created xsi:type="dcterms:W3CDTF">2026-10-06T05:03:34Z</dcterms:created>
  <dcterms:modified xsi:type="dcterms:W3CDTF">2026-10-18T17:53:57Z</dcterms:modified>
</cp:coreProperties>
</file>